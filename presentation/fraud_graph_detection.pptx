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9/28/2026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Traditional fraud detection fails because it analyses transactions in isolation. Rule-based systems are easily defeated by structuring. ML anomaly detection misses coordinated fraud rings where each individual transaction is normal. The missing dimension is the relationship graph between entities.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fraud graph models every banking entity as a node and every verifiable connection as an edge. The power comes from shared attributes: one device used by 40 accounts, one address for 20 KYC registrations, one IP controlling 15 accounts. These patterns are invisible in transaction data but obvious in the graph.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Five fraud archetypes detectable through graph analysis. Star network: hub-and-spoke mule rings. Chain layering: smurfing across 6+ accounts. Cycle topology: round-trip fraud creating graph cycles. Bipartite ring: synthetic identities sharing real devices. Community cluster: organised rings with high internal transaction density.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Layer 1 is the identity graph. Maps KYC documents to accounts. Shared attributes create weighted edges between identities. High-weight edges between supposedly different people reveal synthetic identity pairs. One Aadhaar across 5+ accounts, one phone across 30+ KYCs — these are invisible in transaction monitoring but immediately apparent as high-degree nodes.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Layer 2 is the transaction flow graph. Directed graph of fund movements. PageRank identifies aggregator accounts. Betweenness centrality identifies coordinator accounts. Strongly connected components find round-trip fraud. Critical insight: timing of edges reveals velocity — funds through 4 accounts in 90 minutes is structuring even if each hop is below threshold.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Layer 3 is the device and behavioural graph. One device connecting to 47 accounts makes all 47 suspicious through guilt-by-association propagation. Behavioural session graphs compared using Jaccard similarity detect bot rings and automated mule management. 73% of mule farms share device fingerprints.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three-layer fusion model. Each layer detects a different fraud dimension. The breakthrough insight is that an account appearing in all three layers simultaneously — identity risk, transaction risk, AND device risk — gets the highest priority alert even if each individual score is moderate. Cross-layer presence is the strongest fraud signal.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Case walkthrough. Step 1: identity graph finds 38 accounts sharing 4 Aadhaar numbers. Step 2: transaction graph expands to 94 accounts via PageRank and betweenness centrality. Step 3: device graph finds 1 device managing 47 accounts, confirming bot-managed mule farm. Step 4: full ring of 200 accounts mapped in 4 minutes. Traditional monitoring: zero alerts.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Technology stack. Neo4j or Amazon Neptune for graph database — native graph traversal is 10x faster than SQL JOINs at 4+ hops. Kafka plus Flink for real-time stream processing with sub-second graph updates. Graph Neural Networks for learning fraud topology. Neo4j Bloom or Graphistry for analyst visualisation.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Implementation roadmap. Phase 1: build identity graph from existing KYC data, retrospective analysis finds existing hidden fraud rings. Phase 2: add transaction flow graph, PageRank scoring, 60% false positive reduction. Phase 3: device and behaviour integration, real-time stream processing. Phase 4: GNN models, regulator reporting, cross-bank consortium graph.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Key challenges and mitigations. Scale requires graph partitioning. False edges from legitimate device sharing handled by edge weight thresholds. Privacy under DPDP Act 2023 handled via hashed anonymised node IDs. Adversarial adaptation countered by GNN retraining. Explainability via path-based reason codes for regulators.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Closing slide. The fraud graph sees what transaction monitoring cannot: not what happened but who coordinated it and how they are connected. Three-layer fusion model maps complete fraud rings in under 5 minutes. This shifts fraud prevention from reactive to proactive.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08" name="TopAccent"/>
          <p:cNvSpPr txBox="1"/>
          <p:nvPr/>
        </p:nvSpPr>
        <p:spPr>
          <a:xfrm>
            <a:off x="0" y="0"/>
            <a:ext cx="12193200" cy="180000"/>
          </a:xfrm>
          <a:prstGeom prst="rect">
            <a:avLst/>
          </a:prstGeom>
          <a:solidFill>
            <a:srgbClr val="FF4444"/>
          </a:solidFill>
        </p:spPr>
        <p:txBody>
          <a:bodyPr/>
          <a:lstStyle/>
          <a:p>
            <a:endParaRPr lang="en-US" sz="1000">
              <a:solidFill>
                <a:srgbClr val="FF4444"/>
              </a:solidFill>
            </a:endParaRPr>
          </a:p>
        </p:txBody>
      </p:sp>
      <p:sp>
        <p:nvSpPr>
          <p:cNvPr id="100009" name="SlideNum"/>
          <p:cNvSpPr txBox="1"/>
          <p:nvPr/>
        </p:nvSpPr>
        <p:spPr>
          <a:xfrm>
            <a:off x="540000" y="288000"/>
            <a:ext cx="9000000" cy="288000"/>
          </a:xfrm>
          <a:prstGeom prst="rect">
            <a:avLst/>
          </a:prstGeom>
        </p:spPr>
        <p:txBody>
          <a:bodyPr/>
          <a:lstStyle/>
          <a:p>
            <a:r>
              <a:rPr lang="en-US" sz="1200" b="1">
                <a:solidFill>
                  <a:srgbClr val="FF4444"/>
                </a:solidFill>
                <a:latin typeface="Calibri"/>
                <a:ea typeface="Calibri"/>
              </a:rPr>
              <a:t>01  THE PROBLEM WITH TRADITIONAL DETECTION</a:t>
            </a:r>
          </a:p>
        </p:txBody>
      </p:sp>
      <p:sp>
        <p:nvSpPr>
          <p:cNvPr id="100010" name="Title"/>
          <p:cNvSpPr txBox="1"/>
          <p:nvPr/>
        </p:nvSpPr>
        <p:spPr>
          <a:xfrm>
            <a:off x="540000" y="648000"/>
            <a:ext cx="10800000" cy="1008000"/>
          </a:xfrm>
          <a:prstGeom prst="rect">
            <a:avLst/>
          </a:prstGeom>
        </p:spPr>
        <p:txBody>
          <a:bodyPr/>
          <a:lstStyle/>
          <a:p>
            <a:r>
              <a:rPr lang="en-US" sz="3600" b="1">
                <a:solidFill>
                  <a:srgbClr val="FFFFFF"/>
                </a:solidFill>
                <a:latin typeface="Calibri"/>
                <a:ea typeface="Calibri"/>
              </a:rPr>
              <a:t>Why Rule-Based Systems</a:t>
            </a:r>
          </a:p>
          <a:p>
            <a:r>
              <a:rPr lang="en-US" sz="3600" b="1">
                <a:solidFill>
                  <a:srgbClr val="FFFFFF"/>
                </a:solidFill>
                <a:latin typeface="Calibri"/>
                <a:ea typeface="Calibri"/>
              </a:rPr>
              <a:t>Fail Against Organised Fraud</a:t>
            </a:r>
          </a:p>
        </p:txBody>
      </p:sp>
      <p:sp>
        <p:nvSpPr>
          <p:cNvPr id="100011" name="Rule1"/>
          <p:cNvSpPr txBox="1"/>
          <p:nvPr/>
        </p:nvSpPr>
        <p:spPr>
          <a:xfrm>
            <a:off x="540000" y="1800000"/>
            <a:ext cx="5040000" cy="3600000"/>
          </a:xfrm>
          <a:prstGeom prst="rect">
            <a:avLst/>
          </a:prstGeom>
          <a:solidFill>
            <a:srgbClr val="0A1530"/>
          </a:solidFill>
        </p:spPr>
        <p:txBody>
          <a:bodyPr/>
          <a:lstStyle/>
          <a:p>
            <a:r>
              <a:rPr lang="en-US" sz="1500" b="0" dirty="0">
                <a:solidFill>
                  <a:srgbClr val="DDDDDD"/>
                </a:solidFill>
                <a:latin typeface="Calibri"/>
                <a:ea typeface="Calibri"/>
              </a:rPr>
              <a:t>RULE-BASED APPROACH</a:t>
            </a:r>
          </a:p>
          <a:p>
            <a:endParaRPr lang="en-US" sz="1500" b="0" dirty="0">
              <a:solidFill>
                <a:srgbClr val="DDDDDD"/>
              </a:solidFill>
              <a:latin typeface="Calibri"/>
              <a:ea typeface="Calibri"/>
            </a:endParaRPr>
          </a:p>
          <a:p>
            <a:r>
              <a:rPr lang="en-US" sz="1500" b="0" dirty="0">
                <a:solidFill>
                  <a:srgbClr val="DDDDDD"/>
                </a:solidFill>
                <a:latin typeface="Calibri"/>
                <a:ea typeface="Calibri"/>
              </a:rPr>
              <a:t>If transaction &gt; INR 10L → flag</a:t>
            </a:r>
          </a:p>
          <a:p>
            <a:r>
              <a:rPr lang="en-US" sz="1500" b="0" dirty="0">
                <a:solidFill>
                  <a:srgbClr val="DDDDDD"/>
                </a:solidFill>
                <a:latin typeface="Calibri"/>
                <a:ea typeface="Calibri"/>
              </a:rPr>
              <a:t>If &gt;3 </a:t>
            </a:r>
            <a:r>
              <a:rPr lang="en-US" sz="1500" b="0" dirty="0" err="1">
                <a:solidFill>
                  <a:srgbClr val="DDDDDD"/>
                </a:solidFill>
                <a:latin typeface="Calibri"/>
                <a:ea typeface="Calibri"/>
              </a:rPr>
              <a:t>txn</a:t>
            </a:r>
            <a:r>
              <a:rPr lang="en-US" sz="1500" b="0" dirty="0">
                <a:solidFill>
                  <a:srgbClr val="DDDDDD"/>
                </a:solidFill>
                <a:latin typeface="Calibri"/>
                <a:ea typeface="Calibri"/>
              </a:rPr>
              <a:t> in 1 hour → flag</a:t>
            </a:r>
          </a:p>
          <a:p>
            <a:r>
              <a:rPr lang="en-US" sz="1500" b="0" dirty="0">
                <a:solidFill>
                  <a:srgbClr val="DDDDDD"/>
                </a:solidFill>
                <a:latin typeface="Calibri"/>
                <a:ea typeface="Calibri"/>
              </a:rPr>
              <a:t>If foreign IP → flag</a:t>
            </a:r>
          </a:p>
          <a:p>
            <a:endParaRPr lang="en-US" sz="1500" b="0" dirty="0">
              <a:solidFill>
                <a:srgbClr val="DDDDDD"/>
              </a:solidFill>
              <a:latin typeface="Calibri"/>
              <a:ea typeface="Calibri"/>
            </a:endParaRPr>
          </a:p>
          <a:p>
            <a:r>
              <a:rPr lang="en-US" sz="1500" b="0" dirty="0">
                <a:solidFill>
                  <a:srgbClr val="DDDDDD"/>
                </a:solidFill>
                <a:latin typeface="Calibri"/>
                <a:ea typeface="Calibri"/>
              </a:rPr>
              <a:t>Problem: Fraudsters structure</a:t>
            </a:r>
          </a:p>
          <a:p>
            <a:r>
              <a:rPr lang="en-US" sz="1500" b="0" dirty="0">
                <a:solidFill>
                  <a:srgbClr val="DDDDDD"/>
                </a:solidFill>
                <a:latin typeface="Calibri"/>
                <a:ea typeface="Calibri"/>
              </a:rPr>
              <a:t>transactions below every threshold.</a:t>
            </a:r>
          </a:p>
          <a:p>
            <a:r>
              <a:rPr lang="en-US" sz="1500" b="0" dirty="0">
                <a:solidFill>
                  <a:srgbClr val="DDDDDD"/>
                </a:solidFill>
                <a:latin typeface="Calibri"/>
                <a:ea typeface="Calibri"/>
              </a:rPr>
              <a:t>Each individual transaction looks</a:t>
            </a:r>
          </a:p>
          <a:p>
            <a:r>
              <a:rPr lang="en-US" sz="1500" b="0" dirty="0">
                <a:solidFill>
                  <a:srgbClr val="DDDDDD"/>
                </a:solidFill>
                <a:latin typeface="Calibri"/>
                <a:ea typeface="Calibri"/>
              </a:rPr>
              <a:t>perfectly normal.</a:t>
            </a:r>
          </a:p>
        </p:txBody>
      </p:sp>
      <p:sp>
        <p:nvSpPr>
          <p:cNvPr id="100012" name="MLApproach"/>
          <p:cNvSpPr txBox="1"/>
          <p:nvPr/>
        </p:nvSpPr>
        <p:spPr>
          <a:xfrm>
            <a:off x="5940000" y="1800000"/>
            <a:ext cx="5400000" cy="3600000"/>
          </a:xfrm>
          <a:prstGeom prst="rect">
            <a:avLst/>
          </a:prstGeom>
          <a:solidFill>
            <a:srgbClr val="0A1530"/>
          </a:solidFill>
        </p:spPr>
        <p:txBody>
          <a:bodyPr/>
          <a:lstStyle/>
          <a:p>
            <a:r>
              <a:rPr lang="en-US" sz="1500" b="0">
                <a:solidFill>
                  <a:srgbClr val="DDDDDD"/>
                </a:solidFill>
                <a:latin typeface="Calibri"/>
                <a:ea typeface="Calibri"/>
              </a:rPr>
              <a:t>ML / ANOMALY DETECTION</a:t>
            </a:r>
          </a:p>
          <a:p>
            <a:endParaRPr lang="en-US" sz="1500" b="0">
              <a:solidFill>
                <a:srgbClr val="DDDDDD"/>
              </a:solidFill>
              <a:latin typeface="Calibri"/>
              <a:ea typeface="Calibri"/>
            </a:endParaRPr>
          </a:p>
          <a:p>
            <a:r>
              <a:rPr lang="en-US" sz="1500" b="0">
                <a:solidFill>
                  <a:srgbClr val="DDDDDD"/>
                </a:solidFill>
                <a:latin typeface="Calibri"/>
                <a:ea typeface="Calibri"/>
              </a:rPr>
              <a:t>Score each transaction</a:t>
            </a:r>
          </a:p>
          <a:p>
            <a:r>
              <a:rPr lang="en-US" sz="1500" b="0">
                <a:solidFill>
                  <a:srgbClr val="DDDDDD"/>
                </a:solidFill>
                <a:latin typeface="Calibri"/>
                <a:ea typeface="Calibri"/>
              </a:rPr>
              <a:t>Individually in isolation</a:t>
            </a:r>
          </a:p>
          <a:p>
            <a:endParaRPr lang="en-US" sz="1500" b="0">
              <a:solidFill>
                <a:srgbClr val="DDDDDD"/>
              </a:solidFill>
              <a:latin typeface="Calibri"/>
              <a:ea typeface="Calibri"/>
            </a:endParaRPr>
          </a:p>
          <a:p>
            <a:r>
              <a:rPr lang="en-US" sz="1500" b="0">
                <a:solidFill>
                  <a:srgbClr val="DDDDDD"/>
                </a:solidFill>
                <a:latin typeface="Calibri"/>
                <a:ea typeface="Calibri"/>
              </a:rPr>
              <a:t>Problem: A mule account</a:t>
            </a:r>
          </a:p>
          <a:p>
            <a:r>
              <a:rPr lang="en-US" sz="1500" b="0">
                <a:solidFill>
                  <a:srgbClr val="DDDDDD"/>
                </a:solidFill>
                <a:latin typeface="Calibri"/>
                <a:ea typeface="Calibri"/>
              </a:rPr>
              <a:t>receiving INR 9,999 from</a:t>
            </a:r>
          </a:p>
          <a:p>
            <a:r>
              <a:rPr lang="en-US" sz="1500" b="0">
                <a:solidFill>
                  <a:srgbClr val="DDDDDD"/>
                </a:solidFill>
                <a:latin typeface="Calibri"/>
                <a:ea typeface="Calibri"/>
              </a:rPr>
              <a:t>50 different people has</a:t>
            </a:r>
          </a:p>
          <a:p>
            <a:r>
              <a:rPr lang="en-US" sz="1500" b="0">
                <a:solidFill>
                  <a:srgbClr val="DDDDDD"/>
                </a:solidFill>
                <a:latin typeface="Calibri"/>
                <a:ea typeface="Calibri"/>
              </a:rPr>
              <a:t>no anomalous single txn.</a:t>
            </a:r>
          </a:p>
          <a:p>
            <a:r>
              <a:rPr lang="en-US" sz="1500" b="0">
                <a:solidFill>
                  <a:srgbClr val="DDDDDD"/>
                </a:solidFill>
                <a:latin typeface="Calibri"/>
                <a:ea typeface="Calibri"/>
              </a:rPr>
              <a:t>The anomaly is the PATTERN</a:t>
            </a:r>
          </a:p>
          <a:p>
            <a:r>
              <a:rPr lang="en-US" sz="1500" b="0">
                <a:solidFill>
                  <a:srgbClr val="DDDDDD"/>
                </a:solidFill>
                <a:latin typeface="Calibri"/>
                <a:ea typeface="Calibri"/>
              </a:rPr>
              <a:t>across the network.</a:t>
            </a:r>
          </a:p>
        </p:txBody>
      </p:sp>
      <p:sp>
        <p:nvSpPr>
          <p:cNvPr id="100013" name="Gap"/>
          <p:cNvSpPr txBox="1"/>
          <p:nvPr/>
        </p:nvSpPr>
        <p:spPr>
          <a:xfrm>
            <a:off x="540000" y="5688000"/>
            <a:ext cx="10800000" cy="720000"/>
          </a:xfrm>
          <a:prstGeom prst="rect">
            <a:avLst/>
          </a:prstGeom>
          <a:solidFill>
            <a:srgbClr val="1A0A0A"/>
          </a:solidFill>
        </p:spPr>
        <p:txBody>
          <a:bodyPr/>
          <a:lstStyle/>
          <a:p>
            <a:r>
              <a:rPr lang="en-US" sz="1800" b="1">
                <a:solidFill>
                  <a:srgbClr val="FF4444"/>
                </a:solidFill>
                <a:latin typeface="Calibri"/>
                <a:ea typeface="Calibri"/>
              </a:rPr>
              <a:t>The Gap: Neither approach looks at WHO is connected to WHOM and HOW those connections form a coordinated fraud 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14" name="TopAccent"/>
          <p:cNvSpPr txBox="1"/>
          <p:nvPr/>
        </p:nvSpPr>
        <p:spPr>
          <a:xfrm>
            <a:off x="0" y="0"/>
            <a:ext cx="12193200" cy="180000"/>
          </a:xfrm>
          <a:prstGeom prst="rect">
            <a:avLst/>
          </a:prstGeom>
          <a:solidFill>
            <a:srgbClr val="1A6FFF"/>
          </a:solidFill>
        </p:spPr>
        <p:txBody>
          <a:bodyPr/>
          <a:lstStyle/>
          <a:p>
            <a:endParaRPr lang="en-US" sz="1000">
              <a:solidFill>
                <a:srgbClr val="1A6FFF"/>
              </a:solidFill>
            </a:endParaRPr>
          </a:p>
        </p:txBody>
      </p:sp>
      <p:sp>
        <p:nvSpPr>
          <p:cNvPr id="100015" name="SlideNum"/>
          <p:cNvSpPr txBox="1"/>
          <p:nvPr/>
        </p:nvSpPr>
        <p:spPr>
          <a:xfrm>
            <a:off x="540000" y="288000"/>
            <a:ext cx="7200000" cy="288000"/>
          </a:xfrm>
          <a:prstGeom prst="rect">
            <a:avLst/>
          </a:prstGeom>
        </p:spPr>
        <p:txBody>
          <a:bodyPr/>
          <a:lstStyle/>
          <a:p>
            <a:r>
              <a:rPr lang="en-US" sz="1200" b="1">
                <a:solidFill>
                  <a:srgbClr val="1A6FFF"/>
                </a:solidFill>
                <a:latin typeface="Calibri"/>
                <a:ea typeface="Calibri"/>
              </a:rPr>
              <a:t>02  WHAT IS A FRAUD GRAPH</a:t>
            </a:r>
          </a:p>
        </p:txBody>
      </p:sp>
      <p:sp>
        <p:nvSpPr>
          <p:cNvPr id="100016"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The Bank Fraud Knowledge Graph:</a:t>
            </a:r>
          </a:p>
          <a:p>
            <a:r>
              <a:rPr lang="en-US" sz="3400" b="1">
                <a:solidFill>
                  <a:srgbClr val="FFFFFF"/>
                </a:solidFill>
                <a:latin typeface="Calibri"/>
                <a:ea typeface="Calibri"/>
              </a:rPr>
              <a:t>Entities + Relationships = Hidden Truth</a:t>
            </a:r>
          </a:p>
        </p:txBody>
      </p:sp>
      <p:sp>
        <p:nvSpPr>
          <p:cNvPr id="100017" name="NodeHeader"/>
          <p:cNvSpPr txBox="1"/>
          <p:nvPr/>
        </p:nvSpPr>
        <p:spPr>
          <a:xfrm>
            <a:off x="540000" y="1872000"/>
            <a:ext cx="5040000" cy="324000"/>
          </a:xfrm>
          <a:prstGeom prst="rect">
            <a:avLst/>
          </a:prstGeom>
        </p:spPr>
        <p:txBody>
          <a:bodyPr/>
          <a:lstStyle/>
          <a:p>
            <a:r>
              <a:rPr lang="en-US" sz="1500" b="1">
                <a:solidFill>
                  <a:srgbClr val="1A6FFF"/>
                </a:solidFill>
                <a:latin typeface="Calibri"/>
                <a:ea typeface="Calibri"/>
              </a:rPr>
              <a:t>NODES (Entities)</a:t>
            </a:r>
          </a:p>
        </p:txBody>
      </p:sp>
      <p:sp>
        <p:nvSpPr>
          <p:cNvPr id="100018" name="Nodes"/>
          <p:cNvSpPr txBox="1"/>
          <p:nvPr/>
        </p:nvSpPr>
        <p:spPr>
          <a:xfrm>
            <a:off x="540000" y="2268000"/>
            <a:ext cx="5040000" cy="3240000"/>
          </a:xfrm>
          <a:prstGeom prst="rect">
            <a:avLst/>
          </a:prstGeom>
          <a:solidFill>
            <a:srgbClr val="040D21"/>
          </a:solidFill>
        </p:spPr>
        <p:txBody>
          <a:bodyPr/>
          <a:lstStyle/>
          <a:p>
            <a:r>
              <a:rPr lang="en-US" sz="1400" b="0">
                <a:solidFill>
                  <a:srgbClr val="C8D8E8"/>
                </a:solidFill>
                <a:latin typeface="Courier New"/>
                <a:ea typeface="Courier New"/>
              </a:rPr>
              <a:t>Account         Bank account, wallet, PPI</a:t>
            </a:r>
          </a:p>
          <a:p>
            <a:r>
              <a:rPr lang="en-US" sz="1400" b="0">
                <a:solidFill>
                  <a:srgbClr val="C8D8E8"/>
                </a:solidFill>
                <a:latin typeface="Courier New"/>
                <a:ea typeface="Courier New"/>
              </a:rPr>
              <a:t>Person          KYC holder, beneficial owner</a:t>
            </a:r>
          </a:p>
          <a:p>
            <a:r>
              <a:rPr lang="en-US" sz="1400" b="0">
                <a:solidFill>
                  <a:srgbClr val="C8D8E8"/>
                </a:solidFill>
                <a:latin typeface="Courier New"/>
                <a:ea typeface="Courier New"/>
              </a:rPr>
              <a:t>Device          Mobile, IMEI, browser fingerprint</a:t>
            </a:r>
          </a:p>
          <a:p>
            <a:r>
              <a:rPr lang="en-US" sz="1400" b="0">
                <a:solidFill>
                  <a:srgbClr val="C8D8E8"/>
                </a:solidFill>
                <a:latin typeface="Courier New"/>
                <a:ea typeface="Courier New"/>
              </a:rPr>
              <a:t>IP Address      Login origin, VPN, proxy</a:t>
            </a:r>
          </a:p>
          <a:p>
            <a:r>
              <a:rPr lang="en-US" sz="1400" b="0">
                <a:solidFill>
                  <a:srgbClr val="C8D8E8"/>
                </a:solidFill>
                <a:latin typeface="Courier New"/>
                <a:ea typeface="Courier New"/>
              </a:rPr>
              <a:t>Phone Number    Registered mobile, OTP receiver</a:t>
            </a:r>
          </a:p>
          <a:p>
            <a:r>
              <a:rPr lang="en-US" sz="1400" b="0">
                <a:solidFill>
                  <a:srgbClr val="C8D8E8"/>
                </a:solidFill>
                <a:latin typeface="Courier New"/>
                <a:ea typeface="Courier New"/>
              </a:rPr>
              <a:t>Email           Registration, communication</a:t>
            </a:r>
          </a:p>
          <a:p>
            <a:r>
              <a:rPr lang="en-US" sz="1400" b="0">
                <a:solidFill>
                  <a:srgbClr val="C8D8E8"/>
                </a:solidFill>
                <a:latin typeface="Courier New"/>
                <a:ea typeface="Courier New"/>
              </a:rPr>
              <a:t>Merchant        Payee, shell entity, vendor</a:t>
            </a:r>
          </a:p>
          <a:p>
            <a:r>
              <a:rPr lang="en-US" sz="1400" b="0">
                <a:solidFill>
                  <a:srgbClr val="C8D8E8"/>
                </a:solidFill>
                <a:latin typeface="Courier New"/>
                <a:ea typeface="Courier New"/>
              </a:rPr>
              <a:t>Document        Aadhaar, PAN, passport</a:t>
            </a:r>
          </a:p>
        </p:txBody>
      </p:sp>
      <p:sp>
        <p:nvSpPr>
          <p:cNvPr id="100019" name="EdgeHeader"/>
          <p:cNvSpPr txBox="1"/>
          <p:nvPr/>
        </p:nvSpPr>
        <p:spPr>
          <a:xfrm>
            <a:off x="6120000" y="1872000"/>
            <a:ext cx="5400000" cy="324000"/>
          </a:xfrm>
          <a:prstGeom prst="rect">
            <a:avLst/>
          </a:prstGeom>
        </p:spPr>
        <p:txBody>
          <a:bodyPr/>
          <a:lstStyle/>
          <a:p>
            <a:r>
              <a:rPr lang="en-US" sz="1500" b="1">
                <a:solidFill>
                  <a:srgbClr val="00CC88"/>
                </a:solidFill>
                <a:latin typeface="Calibri"/>
                <a:ea typeface="Calibri"/>
              </a:rPr>
              <a:t>EDGES (Relationships)</a:t>
            </a:r>
          </a:p>
        </p:txBody>
      </p:sp>
      <p:sp>
        <p:nvSpPr>
          <p:cNvPr id="100020" name="Edges"/>
          <p:cNvSpPr txBox="1"/>
          <p:nvPr/>
        </p:nvSpPr>
        <p:spPr>
          <a:xfrm>
            <a:off x="6120000" y="2268000"/>
            <a:ext cx="5400000" cy="3240000"/>
          </a:xfrm>
          <a:prstGeom prst="rect">
            <a:avLst/>
          </a:prstGeom>
          <a:solidFill>
            <a:srgbClr val="040D21"/>
          </a:solidFill>
        </p:spPr>
        <p:txBody>
          <a:bodyPr/>
          <a:lstStyle/>
          <a:p>
            <a:r>
              <a:rPr lang="en-US" sz="1400" b="0">
                <a:solidFill>
                  <a:srgbClr val="C8D8E8"/>
                </a:solidFill>
                <a:latin typeface="Courier New"/>
                <a:ea typeface="Courier New"/>
              </a:rPr>
              <a:t>TRANSACTS_WITH     money flow</a:t>
            </a:r>
          </a:p>
          <a:p>
            <a:r>
              <a:rPr lang="en-US" sz="1400" b="0">
                <a:solidFill>
                  <a:srgbClr val="C8D8E8"/>
                </a:solidFill>
                <a:latin typeface="Courier New"/>
                <a:ea typeface="Courier New"/>
              </a:rPr>
              <a:t>SHARES_DEVICE      same phone/browser</a:t>
            </a:r>
          </a:p>
          <a:p>
            <a:r>
              <a:rPr lang="en-US" sz="1400" b="0">
                <a:solidFill>
                  <a:srgbClr val="C8D8E8"/>
                </a:solidFill>
                <a:latin typeface="Courier New"/>
                <a:ea typeface="Courier New"/>
              </a:rPr>
              <a:t>SHARES_IP          same login IP</a:t>
            </a:r>
          </a:p>
          <a:p>
            <a:r>
              <a:rPr lang="en-US" sz="1400" b="0">
                <a:solidFill>
                  <a:srgbClr val="C8D8E8"/>
                </a:solidFill>
                <a:latin typeface="Courier New"/>
                <a:ea typeface="Courier New"/>
              </a:rPr>
              <a:t>SHARES_PHONE       same registered number</a:t>
            </a:r>
          </a:p>
          <a:p>
            <a:r>
              <a:rPr lang="en-US" sz="1400" b="0">
                <a:solidFill>
                  <a:srgbClr val="C8D8E8"/>
                </a:solidFill>
                <a:latin typeface="Courier New"/>
                <a:ea typeface="Courier New"/>
              </a:rPr>
              <a:t>SHARES_ADDRESS     same KYC address</a:t>
            </a:r>
          </a:p>
          <a:p>
            <a:r>
              <a:rPr lang="en-US" sz="1400" b="0">
                <a:solidFill>
                  <a:srgbClr val="C8D8E8"/>
                </a:solidFill>
                <a:latin typeface="Courier New"/>
                <a:ea typeface="Courier New"/>
              </a:rPr>
              <a:t>SHARES_DOCUMENT    Aadhaar / PAN reuse</a:t>
            </a:r>
          </a:p>
          <a:p>
            <a:r>
              <a:rPr lang="en-US" sz="1400" b="0">
                <a:solidFill>
                  <a:srgbClr val="C8D8E8"/>
                </a:solidFill>
                <a:latin typeface="Courier New"/>
                <a:ea typeface="Courier New"/>
              </a:rPr>
              <a:t>CONTROLLED_BY      beneficial ownership</a:t>
            </a:r>
          </a:p>
          <a:p>
            <a:r>
              <a:rPr lang="en-US" sz="1400" b="0">
                <a:solidFill>
                  <a:srgbClr val="C8D8E8"/>
                </a:solidFill>
                <a:latin typeface="Courier New"/>
                <a:ea typeface="Courier New"/>
              </a:rPr>
              <a:t>CO_APPLICANT       joint product</a:t>
            </a:r>
          </a:p>
          <a:p>
            <a:r>
              <a:rPr lang="en-US" sz="1400" b="0">
                <a:solidFill>
                  <a:srgbClr val="C8D8E8"/>
                </a:solidFill>
                <a:latin typeface="Courier New"/>
                <a:ea typeface="Courier New"/>
              </a:rPr>
              <a:t>REFERRED_BY        referral network</a:t>
            </a:r>
          </a:p>
          <a:p>
            <a:r>
              <a:rPr lang="en-US" sz="1400" b="0">
                <a:solidFill>
                  <a:srgbClr val="C8D8E8"/>
                </a:solidFill>
                <a:latin typeface="Courier New"/>
                <a:ea typeface="Courier New"/>
              </a:rPr>
              <a:t>LOGGED_IN_FROM     session origin</a:t>
            </a:r>
          </a:p>
        </p:txBody>
      </p:sp>
      <p:sp>
        <p:nvSpPr>
          <p:cNvPr id="100021" name="Insight"/>
          <p:cNvSpPr txBox="1"/>
          <p:nvPr/>
        </p:nvSpPr>
        <p:spPr>
          <a:xfrm>
            <a:off x="540000" y="5760000"/>
            <a:ext cx="10800000" cy="720000"/>
          </a:xfrm>
          <a:prstGeom prst="rect">
            <a:avLst/>
          </a:prstGeom>
          <a:solidFill>
            <a:srgbClr val="001A12"/>
          </a:solidFill>
        </p:spPr>
        <p:txBody>
          <a:bodyPr/>
          <a:lstStyle/>
          <a:p>
            <a:r>
              <a:rPr lang="en-US" sz="1700" b="0">
                <a:solidFill>
                  <a:srgbClr val="00CC88"/>
                </a:solidFill>
                <a:latin typeface="Calibri"/>
                <a:ea typeface="Calibri"/>
              </a:rPr>
              <a:t>A single shared device across 40 accounts is invisible in transaction data but instantly visible as a high-degree node in the graph.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22" name="TopAccent"/>
          <p:cNvSpPr txBox="1"/>
          <p:nvPr/>
        </p:nvSpPr>
        <p:spPr>
          <a:xfrm>
            <a:off x="0" y="0"/>
            <a:ext cx="12193200" cy="180000"/>
          </a:xfrm>
          <a:prstGeom prst="rect">
            <a:avLst/>
          </a:prstGeom>
          <a:solidFill>
            <a:srgbClr val="FF9500"/>
          </a:solidFill>
        </p:spPr>
        <p:txBody>
          <a:bodyPr/>
          <a:lstStyle/>
          <a:p>
            <a:endParaRPr lang="en-US" sz="1000">
              <a:solidFill>
                <a:srgbClr val="FF9500"/>
              </a:solidFill>
            </a:endParaRPr>
          </a:p>
        </p:txBody>
      </p:sp>
      <p:sp>
        <p:nvSpPr>
          <p:cNvPr id="100023" name="SlideNum"/>
          <p:cNvSpPr txBox="1"/>
          <p:nvPr/>
        </p:nvSpPr>
        <p:spPr>
          <a:xfrm>
            <a:off x="540000" y="288000"/>
            <a:ext cx="9000000" cy="288000"/>
          </a:xfrm>
          <a:prstGeom prst="rect">
            <a:avLst/>
          </a:prstGeom>
        </p:spPr>
        <p:txBody>
          <a:bodyPr/>
          <a:lstStyle/>
          <a:p>
            <a:r>
              <a:rPr lang="en-US" sz="1200" b="1">
                <a:solidFill>
                  <a:srgbClr val="FF9500"/>
                </a:solidFill>
                <a:latin typeface="Calibri"/>
                <a:ea typeface="Calibri"/>
              </a:rPr>
              <a:t>03  THE FIVE FRAUD NETWORK ARCHETYPES</a:t>
            </a:r>
          </a:p>
        </p:txBody>
      </p:sp>
      <p:sp>
        <p:nvSpPr>
          <p:cNvPr id="100024" name="Title"/>
          <p:cNvSpPr txBox="1"/>
          <p:nvPr/>
        </p:nvSpPr>
        <p:spPr>
          <a:xfrm>
            <a:off x="540000" y="648000"/>
            <a:ext cx="10800000" cy="900000"/>
          </a:xfrm>
          <a:prstGeom prst="rect">
            <a:avLst/>
          </a:prstGeom>
        </p:spPr>
        <p:txBody>
          <a:bodyPr/>
          <a:lstStyle/>
          <a:p>
            <a:r>
              <a:rPr lang="en-US" sz="3400" b="1">
                <a:solidFill>
                  <a:srgbClr val="FFFFFF"/>
                </a:solidFill>
                <a:latin typeface="Calibri"/>
                <a:ea typeface="Calibri"/>
              </a:rPr>
              <a:t>Five Multi-Layer Fraud Patterns</a:t>
            </a:r>
          </a:p>
          <a:p>
            <a:r>
              <a:rPr lang="en-US" sz="3400" b="1">
                <a:solidFill>
                  <a:srgbClr val="FFFFFF"/>
                </a:solidFill>
                <a:latin typeface="Calibri"/>
                <a:ea typeface="Calibri"/>
              </a:rPr>
              <a:t>Detectable Only Through Graph Analysis</a:t>
            </a:r>
          </a:p>
        </p:txBody>
      </p:sp>
      <p:sp>
        <p:nvSpPr>
          <p:cNvPr id="100025" name="P1"/>
          <p:cNvSpPr txBox="1"/>
          <p:nvPr/>
        </p:nvSpPr>
        <p:spPr>
          <a:xfrm>
            <a:off x="360000" y="1728000"/>
            <a:ext cx="2160000" cy="3240000"/>
          </a:xfrm>
          <a:prstGeom prst="rect">
            <a:avLst/>
          </a:prstGeom>
          <a:solidFill>
            <a:srgbClr val="0A1530"/>
          </a:solidFill>
        </p:spPr>
        <p:txBody>
          <a:bodyPr/>
          <a:lstStyle/>
          <a:p>
            <a:r>
              <a:rPr lang="en-US" sz="1300" b="0">
                <a:solidFill>
                  <a:srgbClr val="DDDDDD"/>
                </a:solidFill>
                <a:latin typeface="Calibri"/>
                <a:ea typeface="Calibri"/>
              </a:rPr>
              <a:t>1  STAR NETWORK</a:t>
            </a:r>
          </a:p>
          <a:p>
            <a:r>
              <a:rPr lang="en-US" sz="1300" b="0">
                <a:solidFill>
                  <a:srgbClr val="DDDDDD"/>
                </a:solidFill>
                <a:latin typeface="Calibri"/>
                <a:ea typeface="Calibri"/>
              </a:rPr>
              <a:t>(Hub-and-Spoke)</a:t>
            </a:r>
          </a:p>
          <a:p>
            <a:endParaRPr lang="en-US" sz="1300" b="0">
              <a:solidFill>
                <a:srgbClr val="DDDDDD"/>
              </a:solidFill>
              <a:latin typeface="Calibri"/>
              <a:ea typeface="Calibri"/>
            </a:endParaRPr>
          </a:p>
          <a:p>
            <a:r>
              <a:rPr lang="en-US" sz="1300" b="0">
                <a:solidFill>
                  <a:srgbClr val="DDDDDD"/>
                </a:solidFill>
                <a:latin typeface="Calibri"/>
                <a:ea typeface="Calibri"/>
              </a:rPr>
              <a:t>One controller account</a:t>
            </a:r>
          </a:p>
          <a:p>
            <a:r>
              <a:rPr lang="en-US" sz="1300" b="0">
                <a:solidFill>
                  <a:srgbClr val="DDDDDD"/>
                </a:solidFill>
                <a:latin typeface="Calibri"/>
                <a:ea typeface="Calibri"/>
              </a:rPr>
              <a:t>receives from hundreds</a:t>
            </a:r>
          </a:p>
          <a:p>
            <a:r>
              <a:rPr lang="en-US" sz="1300" b="0">
                <a:solidFill>
                  <a:srgbClr val="DDDDDD"/>
                </a:solidFill>
                <a:latin typeface="Calibri"/>
                <a:ea typeface="Calibri"/>
              </a:rPr>
              <a:t>of mule accounts.</a:t>
            </a:r>
          </a:p>
          <a:p>
            <a:endParaRPr lang="en-US" sz="1300" b="0">
              <a:solidFill>
                <a:srgbClr val="DDDDDD"/>
              </a:solidFill>
              <a:latin typeface="Calibri"/>
              <a:ea typeface="Calibri"/>
            </a:endParaRPr>
          </a:p>
          <a:p>
            <a:r>
              <a:rPr lang="en-US" sz="1300" b="0">
                <a:solidFill>
                  <a:srgbClr val="DDDDDD"/>
                </a:solidFill>
                <a:latin typeface="Calibri"/>
                <a:ea typeface="Calibri"/>
              </a:rPr>
              <a:t>Graph signal: very high</a:t>
            </a:r>
          </a:p>
          <a:p>
            <a:r>
              <a:rPr lang="en-US" sz="1300" b="0">
                <a:solidFill>
                  <a:srgbClr val="DDDDDD"/>
                </a:solidFill>
                <a:latin typeface="Calibri"/>
                <a:ea typeface="Calibri"/>
              </a:rPr>
              <a:t>in-degree on single node.</a:t>
            </a:r>
          </a:p>
          <a:p>
            <a:r>
              <a:rPr lang="en-US" sz="1300" b="0">
                <a:solidFill>
                  <a:srgbClr val="DDDDDD"/>
                </a:solidFill>
                <a:latin typeface="Calibri"/>
                <a:ea typeface="Calibri"/>
              </a:rPr>
              <a:t>Invisible in flat data.</a:t>
            </a:r>
          </a:p>
        </p:txBody>
      </p:sp>
      <p:sp>
        <p:nvSpPr>
          <p:cNvPr id="100026" name="P2"/>
          <p:cNvSpPr txBox="1"/>
          <p:nvPr/>
        </p:nvSpPr>
        <p:spPr>
          <a:xfrm>
            <a:off x="2700000" y="1728000"/>
            <a:ext cx="2160000" cy="3240000"/>
          </a:xfrm>
          <a:prstGeom prst="rect">
            <a:avLst/>
          </a:prstGeom>
          <a:solidFill>
            <a:srgbClr val="0A1530"/>
          </a:solidFill>
        </p:spPr>
        <p:txBody>
          <a:bodyPr/>
          <a:lstStyle/>
          <a:p>
            <a:r>
              <a:rPr lang="en-US" sz="1300" b="0">
                <a:solidFill>
                  <a:srgbClr val="DDDDDD"/>
                </a:solidFill>
                <a:latin typeface="Calibri"/>
                <a:ea typeface="Calibri"/>
              </a:rPr>
              <a:t>2  CHAIN LAYERING</a:t>
            </a:r>
          </a:p>
          <a:p>
            <a:r>
              <a:rPr lang="en-US" sz="1300" b="0">
                <a:solidFill>
                  <a:srgbClr val="DDDDDD"/>
                </a:solidFill>
                <a:latin typeface="Calibri"/>
                <a:ea typeface="Calibri"/>
              </a:rPr>
              <a:t>(Typology: Smurfing)</a:t>
            </a:r>
          </a:p>
          <a:p>
            <a:endParaRPr lang="en-US" sz="1300" b="0">
              <a:solidFill>
                <a:srgbClr val="DDDDDD"/>
              </a:solidFill>
              <a:latin typeface="Calibri"/>
              <a:ea typeface="Calibri"/>
            </a:endParaRPr>
          </a:p>
          <a:p>
            <a:r>
              <a:rPr lang="en-US" sz="1300" b="0">
                <a:solidFill>
                  <a:srgbClr val="DDDDDD"/>
                </a:solidFill>
                <a:latin typeface="Calibri"/>
                <a:ea typeface="Calibri"/>
              </a:rPr>
              <a:t>Funds hop: A-&gt;B-&gt;C-&gt;D</a:t>
            </a:r>
          </a:p>
          <a:p>
            <a:r>
              <a:rPr lang="en-US" sz="1300" b="0">
                <a:solidFill>
                  <a:srgbClr val="DDDDDD"/>
                </a:solidFill>
                <a:latin typeface="Calibri"/>
                <a:ea typeface="Calibri"/>
              </a:rPr>
              <a:t>-&gt;E-&gt;F across 6+ accounts</a:t>
            </a:r>
          </a:p>
          <a:p>
            <a:r>
              <a:rPr lang="en-US" sz="1300" b="0">
                <a:solidFill>
                  <a:srgbClr val="DDDDDD"/>
                </a:solidFill>
                <a:latin typeface="Calibri"/>
                <a:ea typeface="Calibri"/>
              </a:rPr>
              <a:t>before exit. Each hop</a:t>
            </a:r>
          </a:p>
          <a:p>
            <a:r>
              <a:rPr lang="en-US" sz="1300" b="0">
                <a:solidFill>
                  <a:srgbClr val="DDDDDD"/>
                </a:solidFill>
                <a:latin typeface="Calibri"/>
                <a:ea typeface="Calibri"/>
              </a:rPr>
              <a:t>below AML threshold.</a:t>
            </a:r>
          </a:p>
          <a:p>
            <a:endParaRPr lang="en-US" sz="1300" b="0">
              <a:solidFill>
                <a:srgbClr val="DDDDDD"/>
              </a:solidFill>
              <a:latin typeface="Calibri"/>
              <a:ea typeface="Calibri"/>
            </a:endParaRPr>
          </a:p>
          <a:p>
            <a:r>
              <a:rPr lang="en-US" sz="1300" b="0">
                <a:solidFill>
                  <a:srgbClr val="DDDDDD"/>
                </a:solidFill>
                <a:latin typeface="Calibri"/>
                <a:ea typeface="Calibri"/>
              </a:rPr>
              <a:t>Graph signal: directed</a:t>
            </a:r>
          </a:p>
          <a:p>
            <a:r>
              <a:rPr lang="en-US" sz="1300" b="0">
                <a:solidFill>
                  <a:srgbClr val="DDDDDD"/>
                </a:solidFill>
                <a:latin typeface="Calibri"/>
                <a:ea typeface="Calibri"/>
              </a:rPr>
              <a:t>path of depth &gt; 4.</a:t>
            </a:r>
          </a:p>
        </p:txBody>
      </p:sp>
      <p:sp>
        <p:nvSpPr>
          <p:cNvPr id="100027" name="P3"/>
          <p:cNvSpPr txBox="1"/>
          <p:nvPr/>
        </p:nvSpPr>
        <p:spPr>
          <a:xfrm>
            <a:off x="5040000" y="1728000"/>
            <a:ext cx="2160000" cy="3240000"/>
          </a:xfrm>
          <a:prstGeom prst="rect">
            <a:avLst/>
          </a:prstGeom>
          <a:solidFill>
            <a:srgbClr val="0A1530"/>
          </a:solidFill>
        </p:spPr>
        <p:txBody>
          <a:bodyPr/>
          <a:lstStyle/>
          <a:p>
            <a:r>
              <a:rPr lang="en-US" sz="1300" b="0">
                <a:solidFill>
                  <a:srgbClr val="DDDDDD"/>
                </a:solidFill>
                <a:latin typeface="Calibri"/>
                <a:ea typeface="Calibri"/>
              </a:rPr>
              <a:t>3  CYCLE TOPOLOGY</a:t>
            </a:r>
          </a:p>
          <a:p>
            <a:r>
              <a:rPr lang="en-US" sz="1300" b="0">
                <a:solidFill>
                  <a:srgbClr val="DDDDDD"/>
                </a:solidFill>
                <a:latin typeface="Calibri"/>
                <a:ea typeface="Calibri"/>
              </a:rPr>
              <a:t>(Round-Trip Fraud)</a:t>
            </a:r>
          </a:p>
          <a:p>
            <a:endParaRPr lang="en-US" sz="1300" b="0">
              <a:solidFill>
                <a:srgbClr val="DDDDDD"/>
              </a:solidFill>
              <a:latin typeface="Calibri"/>
              <a:ea typeface="Calibri"/>
            </a:endParaRPr>
          </a:p>
          <a:p>
            <a:r>
              <a:rPr lang="en-US" sz="1300" b="0">
                <a:solidFill>
                  <a:srgbClr val="DDDDDD"/>
                </a:solidFill>
                <a:latin typeface="Calibri"/>
                <a:ea typeface="Calibri"/>
              </a:rPr>
              <a:t>A-&gt;B-&gt;C-&gt;D-&gt;A</a:t>
            </a:r>
          </a:p>
          <a:p>
            <a:r>
              <a:rPr lang="en-US" sz="1300" b="0">
                <a:solidFill>
                  <a:srgbClr val="DDDDDD"/>
                </a:solidFill>
                <a:latin typeface="Calibri"/>
                <a:ea typeface="Calibri"/>
              </a:rPr>
              <a:t>Money returns to origin</a:t>
            </a:r>
          </a:p>
          <a:p>
            <a:r>
              <a:rPr lang="en-US" sz="1300" b="0">
                <a:solidFill>
                  <a:srgbClr val="DDDDDD"/>
                </a:solidFill>
                <a:latin typeface="Calibri"/>
                <a:ea typeface="Calibri"/>
              </a:rPr>
              <a:t>after laundering. Creates</a:t>
            </a:r>
          </a:p>
          <a:p>
            <a:r>
              <a:rPr lang="en-US" sz="1300" b="0">
                <a:solidFill>
                  <a:srgbClr val="DDDDDD"/>
                </a:solidFill>
                <a:latin typeface="Calibri"/>
                <a:ea typeface="Calibri"/>
              </a:rPr>
              <a:t>a cycle in the graph.</a:t>
            </a:r>
          </a:p>
          <a:p>
            <a:endParaRPr lang="en-US" sz="1300" b="0">
              <a:solidFill>
                <a:srgbClr val="DDDDDD"/>
              </a:solidFill>
              <a:latin typeface="Calibri"/>
              <a:ea typeface="Calibri"/>
            </a:endParaRPr>
          </a:p>
          <a:p>
            <a:r>
              <a:rPr lang="en-US" sz="1300" b="0">
                <a:solidFill>
                  <a:srgbClr val="DDDDDD"/>
                </a:solidFill>
                <a:latin typeface="Calibri"/>
                <a:ea typeface="Calibri"/>
              </a:rPr>
              <a:t>Graph signal: strongly</a:t>
            </a:r>
          </a:p>
          <a:p>
            <a:r>
              <a:rPr lang="en-US" sz="1300" b="0">
                <a:solidFill>
                  <a:srgbClr val="DDDDDD"/>
                </a:solidFill>
                <a:latin typeface="Calibri"/>
                <a:ea typeface="Calibri"/>
              </a:rPr>
              <a:t>connected component.</a:t>
            </a:r>
          </a:p>
        </p:txBody>
      </p:sp>
      <p:sp>
        <p:nvSpPr>
          <p:cNvPr id="100028" name="P4"/>
          <p:cNvSpPr txBox="1"/>
          <p:nvPr/>
        </p:nvSpPr>
        <p:spPr>
          <a:xfrm>
            <a:off x="7380000" y="1728000"/>
            <a:ext cx="2160000" cy="3240000"/>
          </a:xfrm>
          <a:prstGeom prst="rect">
            <a:avLst/>
          </a:prstGeom>
          <a:solidFill>
            <a:srgbClr val="0A1530"/>
          </a:solidFill>
        </p:spPr>
        <p:txBody>
          <a:bodyPr/>
          <a:lstStyle/>
          <a:p>
            <a:r>
              <a:rPr lang="en-US" sz="1300" b="0">
                <a:solidFill>
                  <a:srgbClr val="DDDDDD"/>
                </a:solidFill>
                <a:latin typeface="Calibri"/>
                <a:ea typeface="Calibri"/>
              </a:rPr>
              <a:t>4  BIPARTITE RING</a:t>
            </a:r>
          </a:p>
          <a:p>
            <a:r>
              <a:rPr lang="en-US" sz="1300" b="0">
                <a:solidFill>
                  <a:srgbClr val="DDDDDD"/>
                </a:solidFill>
                <a:latin typeface="Calibri"/>
                <a:ea typeface="Calibri"/>
              </a:rPr>
              <a:t>(Synthetic Identity)</a:t>
            </a:r>
          </a:p>
          <a:p>
            <a:endParaRPr lang="en-US" sz="1300" b="0">
              <a:solidFill>
                <a:srgbClr val="DDDDDD"/>
              </a:solidFill>
              <a:latin typeface="Calibri"/>
              <a:ea typeface="Calibri"/>
            </a:endParaRPr>
          </a:p>
          <a:p>
            <a:r>
              <a:rPr lang="en-US" sz="1300" b="0">
                <a:solidFill>
                  <a:srgbClr val="DDDDDD"/>
                </a:solidFill>
                <a:latin typeface="Calibri"/>
                <a:ea typeface="Calibri"/>
              </a:rPr>
              <a:t>Multiple fake identities</a:t>
            </a:r>
          </a:p>
          <a:p>
            <a:r>
              <a:rPr lang="en-US" sz="1300" b="0">
                <a:solidFill>
                  <a:srgbClr val="DDDDDD"/>
                </a:solidFill>
                <a:latin typeface="Calibri"/>
                <a:ea typeface="Calibri"/>
              </a:rPr>
              <a:t>share real devices/phones.</a:t>
            </a:r>
          </a:p>
          <a:p>
            <a:r>
              <a:rPr lang="en-US" sz="1300" b="0">
                <a:solidFill>
                  <a:srgbClr val="DDDDDD"/>
                </a:solidFill>
                <a:latin typeface="Calibri"/>
                <a:ea typeface="Calibri"/>
              </a:rPr>
              <a:t>Forms bipartite graph:</a:t>
            </a:r>
          </a:p>
          <a:p>
            <a:r>
              <a:rPr lang="en-US" sz="1300" b="0">
                <a:solidFill>
                  <a:srgbClr val="DDDDDD"/>
                </a:solidFill>
                <a:latin typeface="Calibri"/>
                <a:ea typeface="Calibri"/>
              </a:rPr>
              <a:t>People &lt;-&gt; Devices.</a:t>
            </a:r>
          </a:p>
          <a:p>
            <a:endParaRPr lang="en-US" sz="1300" b="0">
              <a:solidFill>
                <a:srgbClr val="DDDDDD"/>
              </a:solidFill>
              <a:latin typeface="Calibri"/>
              <a:ea typeface="Calibri"/>
            </a:endParaRPr>
          </a:p>
          <a:p>
            <a:r>
              <a:rPr lang="en-US" sz="1300" b="0">
                <a:solidFill>
                  <a:srgbClr val="DDDDDD"/>
                </a:solidFill>
                <a:latin typeface="Calibri"/>
                <a:ea typeface="Calibri"/>
              </a:rPr>
              <a:t>Graph signal: shared</a:t>
            </a:r>
          </a:p>
          <a:p>
            <a:r>
              <a:rPr lang="en-US" sz="1300" b="0">
                <a:solidFill>
                  <a:srgbClr val="DDDDDD"/>
                </a:solidFill>
                <a:latin typeface="Calibri"/>
                <a:ea typeface="Calibri"/>
              </a:rPr>
              <a:t>neighbour clustering.</a:t>
            </a:r>
          </a:p>
        </p:txBody>
      </p:sp>
      <p:sp>
        <p:nvSpPr>
          <p:cNvPr id="100029" name="P5"/>
          <p:cNvSpPr txBox="1"/>
          <p:nvPr/>
        </p:nvSpPr>
        <p:spPr>
          <a:xfrm>
            <a:off x="9720000" y="1728000"/>
            <a:ext cx="2160000" cy="3240000"/>
          </a:xfrm>
          <a:prstGeom prst="rect">
            <a:avLst/>
          </a:prstGeom>
          <a:solidFill>
            <a:srgbClr val="0A1530"/>
          </a:solidFill>
        </p:spPr>
        <p:txBody>
          <a:bodyPr/>
          <a:lstStyle/>
          <a:p>
            <a:r>
              <a:rPr lang="en-US" sz="1300" b="0">
                <a:solidFill>
                  <a:srgbClr val="DDDDDD"/>
                </a:solidFill>
                <a:latin typeface="Calibri"/>
                <a:ea typeface="Calibri"/>
              </a:rPr>
              <a:t>5  COMMUNITY CLUSTER</a:t>
            </a:r>
          </a:p>
          <a:p>
            <a:r>
              <a:rPr lang="en-US" sz="1300" b="0">
                <a:solidFill>
                  <a:srgbClr val="DDDDDD"/>
                </a:solidFill>
                <a:latin typeface="Calibri"/>
                <a:ea typeface="Calibri"/>
              </a:rPr>
              <a:t>(Organised Crime Ring)</a:t>
            </a:r>
          </a:p>
          <a:p>
            <a:endParaRPr lang="en-US" sz="1300" b="0">
              <a:solidFill>
                <a:srgbClr val="DDDDDD"/>
              </a:solidFill>
              <a:latin typeface="Calibri"/>
              <a:ea typeface="Calibri"/>
            </a:endParaRPr>
          </a:p>
          <a:p>
            <a:r>
              <a:rPr lang="en-US" sz="1300" b="0">
                <a:solidFill>
                  <a:srgbClr val="DDDDDD"/>
                </a:solidFill>
                <a:latin typeface="Calibri"/>
                <a:ea typeface="Calibri"/>
              </a:rPr>
              <a:t>Tight cluster of 20-100</a:t>
            </a:r>
          </a:p>
          <a:p>
            <a:r>
              <a:rPr lang="en-US" sz="1300" b="0">
                <a:solidFill>
                  <a:srgbClr val="DDDDDD"/>
                </a:solidFill>
                <a:latin typeface="Calibri"/>
                <a:ea typeface="Calibri"/>
              </a:rPr>
              <a:t>accounts transacting only</a:t>
            </a:r>
          </a:p>
          <a:p>
            <a:r>
              <a:rPr lang="en-US" sz="1300" b="0">
                <a:solidFill>
                  <a:srgbClr val="DDDDDD"/>
                </a:solidFill>
                <a:latin typeface="Calibri"/>
                <a:ea typeface="Calibri"/>
              </a:rPr>
              <a:t>among themselves. High</a:t>
            </a:r>
          </a:p>
          <a:p>
            <a:r>
              <a:rPr lang="en-US" sz="1300" b="0">
                <a:solidFill>
                  <a:srgbClr val="DDDDDD"/>
                </a:solidFill>
                <a:latin typeface="Calibri"/>
                <a:ea typeface="Calibri"/>
              </a:rPr>
              <a:t>internal density, low</a:t>
            </a:r>
          </a:p>
          <a:p>
            <a:r>
              <a:rPr lang="en-US" sz="1300" b="0">
                <a:solidFill>
                  <a:srgbClr val="DDDDDD"/>
                </a:solidFill>
                <a:latin typeface="Calibri"/>
                <a:ea typeface="Calibri"/>
              </a:rPr>
              <a:t>external connections.</a:t>
            </a:r>
          </a:p>
          <a:p>
            <a:endParaRPr lang="en-US" sz="1300" b="0">
              <a:solidFill>
                <a:srgbClr val="DDDDDD"/>
              </a:solidFill>
              <a:latin typeface="Calibri"/>
              <a:ea typeface="Calibri"/>
            </a:endParaRPr>
          </a:p>
          <a:p>
            <a:r>
              <a:rPr lang="en-US" sz="1300" b="0">
                <a:solidFill>
                  <a:srgbClr val="DDDDDD"/>
                </a:solidFill>
                <a:latin typeface="Calibri"/>
                <a:ea typeface="Calibri"/>
              </a:rPr>
              <a:t>Graph signal: community</a:t>
            </a:r>
          </a:p>
          <a:p>
            <a:r>
              <a:rPr lang="en-US" sz="1300" b="0">
                <a:solidFill>
                  <a:srgbClr val="DDDDDD"/>
                </a:solidFill>
                <a:latin typeface="Calibri"/>
                <a:ea typeface="Calibri"/>
              </a:rPr>
              <a:t>detection (Louvain).</a:t>
            </a:r>
          </a:p>
        </p:txBody>
      </p:sp>
      <p:sp>
        <p:nvSpPr>
          <p:cNvPr id="100030" name="Common"/>
          <p:cNvSpPr txBox="1"/>
          <p:nvPr/>
        </p:nvSpPr>
        <p:spPr>
          <a:xfrm>
            <a:off x="360000" y="5220000"/>
            <a:ext cx="11160000" cy="720000"/>
          </a:xfrm>
          <a:prstGeom prst="rect">
            <a:avLst/>
          </a:prstGeom>
          <a:solidFill>
            <a:srgbClr val="1A0E00"/>
          </a:solidFill>
        </p:spPr>
        <p:txBody>
          <a:bodyPr/>
          <a:lstStyle/>
          <a:p>
            <a:r>
              <a:rPr lang="en-US" sz="1700" b="1">
                <a:solidFill>
                  <a:srgbClr val="FF9500"/>
                </a:solidFill>
                <a:latin typeface="Calibri"/>
                <a:ea typeface="Calibri"/>
              </a:rPr>
              <a:t>Common thread: each pattern requires examining at least 3 hops in the graph to become visible. Transaction monitoring sees 1 hop maximum.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31" name="TopAccent"/>
          <p:cNvSpPr txBox="1"/>
          <p:nvPr/>
        </p:nvSpPr>
        <p:spPr>
          <a:xfrm>
            <a:off x="0" y="0"/>
            <a:ext cx="12193200" cy="180000"/>
          </a:xfrm>
          <a:prstGeom prst="rect">
            <a:avLst/>
          </a:prstGeom>
          <a:solidFill>
            <a:srgbClr val="CC44FF"/>
          </a:solidFill>
        </p:spPr>
        <p:txBody>
          <a:bodyPr/>
          <a:lstStyle/>
          <a:p>
            <a:endParaRPr lang="en-US" sz="1000">
              <a:solidFill>
                <a:srgbClr val="CC44FF"/>
              </a:solidFill>
            </a:endParaRPr>
          </a:p>
        </p:txBody>
      </p:sp>
      <p:sp>
        <p:nvSpPr>
          <p:cNvPr id="100032" name="SlideNum"/>
          <p:cNvSpPr txBox="1"/>
          <p:nvPr/>
        </p:nvSpPr>
        <p:spPr>
          <a:xfrm>
            <a:off x="540000" y="288000"/>
            <a:ext cx="9000000" cy="288000"/>
          </a:xfrm>
          <a:prstGeom prst="rect">
            <a:avLst/>
          </a:prstGeom>
        </p:spPr>
        <p:txBody>
          <a:bodyPr/>
          <a:lstStyle/>
          <a:p>
            <a:r>
              <a:rPr lang="en-US" sz="1200" b="1">
                <a:solidFill>
                  <a:srgbClr val="CC44FF"/>
                </a:solidFill>
                <a:latin typeface="Calibri"/>
                <a:ea typeface="Calibri"/>
              </a:rPr>
              <a:t>04  LAYER 1 — IDENTITY GRAPH</a:t>
            </a:r>
          </a:p>
        </p:txBody>
      </p:sp>
      <p:sp>
        <p:nvSpPr>
          <p:cNvPr id="100033"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Layer 1: Identity Graph</a:t>
            </a:r>
          </a:p>
          <a:p>
            <a:r>
              <a:rPr lang="en-US" sz="3400" b="1">
                <a:solidFill>
                  <a:srgbClr val="FFFFFF"/>
                </a:solidFill>
                <a:latin typeface="Calibri"/>
                <a:ea typeface="Calibri"/>
              </a:rPr>
              <a:t>— Detecting Synthetic &amp; Stolen Identity Fraud</a:t>
            </a:r>
          </a:p>
        </p:txBody>
      </p:sp>
      <p:sp>
        <p:nvSpPr>
          <p:cNvPr id="100034" name="DefBox"/>
          <p:cNvSpPr txBox="1"/>
          <p:nvPr/>
        </p:nvSpPr>
        <p:spPr>
          <a:xfrm>
            <a:off x="540000" y="1872000"/>
            <a:ext cx="5040000" cy="2880000"/>
          </a:xfrm>
          <a:prstGeom prst="rect">
            <a:avLst/>
          </a:prstGeom>
          <a:solidFill>
            <a:srgbClr val="0A0A1A"/>
          </a:solidFill>
        </p:spPr>
        <p:txBody>
          <a:bodyPr/>
          <a:lstStyle/>
          <a:p>
            <a:r>
              <a:rPr lang="en-US" sz="1500" b="0">
                <a:solidFill>
                  <a:srgbClr val="DDDDDD"/>
                </a:solidFill>
                <a:latin typeface="Calibri"/>
                <a:ea typeface="Calibri"/>
              </a:rPr>
              <a:t>WHAT IT MAPS</a:t>
            </a:r>
          </a:p>
          <a:p>
            <a:endParaRPr lang="en-US" sz="1500" b="0">
              <a:solidFill>
                <a:srgbClr val="DDDDDD"/>
              </a:solidFill>
              <a:latin typeface="Calibri"/>
              <a:ea typeface="Calibri"/>
            </a:endParaRPr>
          </a:p>
          <a:p>
            <a:r>
              <a:rPr lang="en-US" sz="1500" b="0">
                <a:solidFill>
                  <a:srgbClr val="DDDDDD"/>
                </a:solidFill>
                <a:latin typeface="Calibri"/>
                <a:ea typeface="Calibri"/>
              </a:rPr>
              <a:t>Every KYC identity (Aadhaar, PAN, Passport)</a:t>
            </a:r>
          </a:p>
          <a:p>
            <a:r>
              <a:rPr lang="en-US" sz="1500" b="0">
                <a:solidFill>
                  <a:srgbClr val="DDDDDD"/>
                </a:solidFill>
                <a:latin typeface="Calibri"/>
                <a:ea typeface="Calibri"/>
              </a:rPr>
              <a:t>linked to every account that used it.</a:t>
            </a:r>
          </a:p>
          <a:p>
            <a:endParaRPr lang="en-US" sz="1500" b="0">
              <a:solidFill>
                <a:srgbClr val="DDDDDD"/>
              </a:solidFill>
              <a:latin typeface="Calibri"/>
              <a:ea typeface="Calibri"/>
            </a:endParaRPr>
          </a:p>
          <a:p>
            <a:r>
              <a:rPr lang="en-US" sz="1500" b="0">
                <a:solidFill>
                  <a:srgbClr val="DDDDDD"/>
                </a:solidFill>
                <a:latin typeface="Calibri"/>
                <a:ea typeface="Calibri"/>
              </a:rPr>
              <a:t>Edge weight = number of shared attributes</a:t>
            </a:r>
          </a:p>
          <a:p>
            <a:r>
              <a:rPr lang="en-US" sz="1500" b="0">
                <a:solidFill>
                  <a:srgbClr val="DDDDDD"/>
                </a:solidFill>
                <a:latin typeface="Calibri"/>
                <a:ea typeface="Calibri"/>
              </a:rPr>
              <a:t>(address + phone + email + document)</a:t>
            </a:r>
          </a:p>
          <a:p>
            <a:endParaRPr lang="en-US" sz="1500" b="0">
              <a:solidFill>
                <a:srgbClr val="DDDDDD"/>
              </a:solidFill>
              <a:latin typeface="Calibri"/>
              <a:ea typeface="Calibri"/>
            </a:endParaRPr>
          </a:p>
          <a:p>
            <a:r>
              <a:rPr lang="en-US" sz="1500" b="0">
                <a:solidFill>
                  <a:srgbClr val="DDDDDD"/>
                </a:solidFill>
                <a:latin typeface="Calibri"/>
                <a:ea typeface="Calibri"/>
              </a:rPr>
              <a:t>High edge weight between two 'different'</a:t>
            </a:r>
          </a:p>
          <a:p>
            <a:r>
              <a:rPr lang="en-US" sz="1500" b="0">
                <a:solidFill>
                  <a:srgbClr val="DDDDDD"/>
                </a:solidFill>
                <a:latin typeface="Calibri"/>
                <a:ea typeface="Calibri"/>
              </a:rPr>
              <a:t>persons = synthetic identity pair.</a:t>
            </a:r>
          </a:p>
        </p:txBody>
      </p:sp>
      <p:sp>
        <p:nvSpPr>
          <p:cNvPr id="100035" name="Signals"/>
          <p:cNvSpPr txBox="1"/>
          <p:nvPr/>
        </p:nvSpPr>
        <p:spPr>
          <a:xfrm>
            <a:off x="6120000" y="1872000"/>
            <a:ext cx="5400000" cy="2880000"/>
          </a:xfrm>
          <a:prstGeom prst="rect">
            <a:avLst/>
          </a:prstGeom>
          <a:solidFill>
            <a:srgbClr val="0A0A1A"/>
          </a:solidFill>
        </p:spPr>
        <p:txBody>
          <a:bodyPr/>
          <a:lstStyle/>
          <a:p>
            <a:r>
              <a:rPr lang="en-US" sz="1500" b="0">
                <a:solidFill>
                  <a:srgbClr val="DDDDDD"/>
                </a:solidFill>
                <a:latin typeface="Calibri"/>
                <a:ea typeface="Calibri"/>
              </a:rPr>
              <a:t>GRAPH SIGNALS TO ALERT ON</a:t>
            </a:r>
          </a:p>
          <a:p>
            <a:endParaRPr lang="en-US" sz="1500" b="0">
              <a:solidFill>
                <a:srgbClr val="DDDDDD"/>
              </a:solidFill>
              <a:latin typeface="Calibri"/>
              <a:ea typeface="Calibri"/>
            </a:endParaRPr>
          </a:p>
          <a:p>
            <a:r>
              <a:rPr lang="en-US" sz="1500" b="0">
                <a:solidFill>
                  <a:srgbClr val="DDDDDD"/>
                </a:solidFill>
                <a:latin typeface="Calibri"/>
                <a:ea typeface="Calibri"/>
              </a:rPr>
              <a:t>  One Aadhaar linked to 5+ accounts</a:t>
            </a:r>
          </a:p>
          <a:p>
            <a:r>
              <a:rPr lang="en-US" sz="1500" b="0">
                <a:solidFill>
                  <a:srgbClr val="DDDDDD"/>
                </a:solidFill>
                <a:latin typeface="Calibri"/>
                <a:ea typeface="Calibri"/>
              </a:rPr>
              <a:t>  One phone number across 30+ KYCs</a:t>
            </a:r>
          </a:p>
          <a:p>
            <a:r>
              <a:rPr lang="en-US" sz="1500" b="0">
                <a:solidFill>
                  <a:srgbClr val="DDDDDD"/>
                </a:solidFill>
                <a:latin typeface="Calibri"/>
                <a:ea typeface="Calibri"/>
              </a:rPr>
              <a:t>  One address for 15+ account holders</a:t>
            </a:r>
          </a:p>
          <a:p>
            <a:r>
              <a:rPr lang="en-US" sz="1500" b="0">
                <a:solidFill>
                  <a:srgbClr val="DDDDDD"/>
                </a:solidFill>
                <a:latin typeface="Calibri"/>
                <a:ea typeface="Calibri"/>
              </a:rPr>
              <a:t>  Two 'different' persons share device + PIN</a:t>
            </a:r>
          </a:p>
          <a:p>
            <a:r>
              <a:rPr lang="en-US" sz="1500" b="0">
                <a:solidFill>
                  <a:srgbClr val="DDDDDD"/>
                </a:solidFill>
                <a:latin typeface="Calibri"/>
                <a:ea typeface="Calibri"/>
              </a:rPr>
              <a:t>  Burst of new accounts sharing one email domain</a:t>
            </a:r>
          </a:p>
          <a:p>
            <a:r>
              <a:rPr lang="en-US" sz="1500" b="0">
                <a:solidFill>
                  <a:srgbClr val="DDDDDD"/>
                </a:solidFill>
                <a:latin typeface="Calibri"/>
                <a:ea typeface="Calibri"/>
              </a:rPr>
              <a:t>  Application submitted from identical GPS coords</a:t>
            </a:r>
          </a:p>
          <a:p>
            <a:r>
              <a:rPr lang="en-US" sz="1500" b="0">
                <a:solidFill>
                  <a:srgbClr val="DDDDDD"/>
                </a:solidFill>
                <a:latin typeface="Calibri"/>
                <a:ea typeface="Calibri"/>
              </a:rPr>
              <a:t>    for supposedly different individuals</a:t>
            </a:r>
          </a:p>
          <a:p>
            <a:r>
              <a:rPr lang="en-US" sz="1500" b="0">
                <a:solidFill>
                  <a:srgbClr val="DDDDDD"/>
                </a:solidFill>
                <a:latin typeface="Calibri"/>
                <a:ea typeface="Calibri"/>
              </a:rPr>
              <a:t>  Document edge connects to known fraud community</a:t>
            </a:r>
          </a:p>
        </p:txBody>
      </p:sp>
      <p:sp>
        <p:nvSpPr>
          <p:cNvPr id="100036" name="RealCase"/>
          <p:cNvSpPr txBox="1"/>
          <p:nvPr/>
        </p:nvSpPr>
        <p:spPr>
          <a:xfrm>
            <a:off x="540000" y="5040000"/>
            <a:ext cx="10800000" cy="1080000"/>
          </a:xfrm>
          <a:prstGeom prst="rect">
            <a:avLst/>
          </a:prstGeom>
          <a:solidFill>
            <a:srgbClr val="100020"/>
          </a:solidFill>
        </p:spPr>
        <p:txBody>
          <a:bodyPr/>
          <a:lstStyle/>
          <a:p>
            <a:r>
              <a:rPr lang="en-US" sz="1600" b="0">
                <a:solidFill>
                  <a:srgbClr val="CC44FF"/>
                </a:solidFill>
                <a:latin typeface="Calibri"/>
                <a:ea typeface="Calibri"/>
              </a:rPr>
              <a:t>Real-world scale: A single Aadhaar reuse ring at one Indian PSB was found linking 1,847 accounts across 12 branches — all opened within 8 months. Not one transaction was above AML threshold. Detected only via identity graph density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37" name="TopAccent"/>
          <p:cNvSpPr txBox="1"/>
          <p:nvPr/>
        </p:nvSpPr>
        <p:spPr>
          <a:xfrm>
            <a:off x="0" y="0"/>
            <a:ext cx="12193200" cy="180000"/>
          </a:xfrm>
          <a:prstGeom prst="rect">
            <a:avLst/>
          </a:prstGeom>
          <a:solidFill>
            <a:srgbClr val="1A6FFF"/>
          </a:solidFill>
        </p:spPr>
        <p:txBody>
          <a:bodyPr/>
          <a:lstStyle/>
          <a:p>
            <a:endParaRPr lang="en-US" sz="1000">
              <a:solidFill>
                <a:srgbClr val="1A6FFF"/>
              </a:solidFill>
            </a:endParaRPr>
          </a:p>
        </p:txBody>
      </p:sp>
      <p:sp>
        <p:nvSpPr>
          <p:cNvPr id="100038" name="SlideNum"/>
          <p:cNvSpPr txBox="1"/>
          <p:nvPr/>
        </p:nvSpPr>
        <p:spPr>
          <a:xfrm>
            <a:off x="540000" y="288000"/>
            <a:ext cx="9000000" cy="288000"/>
          </a:xfrm>
          <a:prstGeom prst="rect">
            <a:avLst/>
          </a:prstGeom>
        </p:spPr>
        <p:txBody>
          <a:bodyPr/>
          <a:lstStyle/>
          <a:p>
            <a:r>
              <a:rPr lang="en-US" sz="1200" b="1">
                <a:solidFill>
                  <a:srgbClr val="1A6FFF"/>
                </a:solidFill>
                <a:latin typeface="Calibri"/>
                <a:ea typeface="Calibri"/>
              </a:rPr>
              <a:t>05  LAYER 2 — TRANSACTION FLOW GRAPH</a:t>
            </a:r>
          </a:p>
        </p:txBody>
      </p:sp>
      <p:sp>
        <p:nvSpPr>
          <p:cNvPr id="100039"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Layer 2: Transaction Flow Graph</a:t>
            </a:r>
          </a:p>
          <a:p>
            <a:r>
              <a:rPr lang="en-US" sz="3400" b="1">
                <a:solidFill>
                  <a:srgbClr val="FFFFFF"/>
                </a:solidFill>
                <a:latin typeface="Calibri"/>
                <a:ea typeface="Calibri"/>
              </a:rPr>
              <a:t>— Tracing the Money Through Layering</a:t>
            </a:r>
          </a:p>
        </p:txBody>
      </p:sp>
      <p:sp>
        <p:nvSpPr>
          <p:cNvPr id="100040" name="Def"/>
          <p:cNvSpPr txBox="1"/>
          <p:nvPr/>
        </p:nvSpPr>
        <p:spPr>
          <a:xfrm>
            <a:off x="540000" y="1872000"/>
            <a:ext cx="5040000" cy="3060000"/>
          </a:xfrm>
          <a:prstGeom prst="rect">
            <a:avLst/>
          </a:prstGeom>
          <a:solidFill>
            <a:srgbClr val="0A0A1A"/>
          </a:solidFill>
        </p:spPr>
        <p:txBody>
          <a:bodyPr/>
          <a:lstStyle/>
          <a:p>
            <a:r>
              <a:rPr lang="en-US" sz="1500" b="0">
                <a:solidFill>
                  <a:srgbClr val="DDDDDD"/>
                </a:solidFill>
                <a:latin typeface="Calibri"/>
                <a:ea typeface="Calibri"/>
              </a:rPr>
              <a:t>DIRECTED WEIGHTED GRAPH</a:t>
            </a:r>
          </a:p>
          <a:p>
            <a:endParaRPr lang="en-US" sz="1500" b="0">
              <a:solidFill>
                <a:srgbClr val="DDDDDD"/>
              </a:solidFill>
              <a:latin typeface="Calibri"/>
              <a:ea typeface="Calibri"/>
            </a:endParaRPr>
          </a:p>
          <a:p>
            <a:r>
              <a:rPr lang="en-US" sz="1500" b="0">
                <a:solidFill>
                  <a:srgbClr val="DDDDDD"/>
                </a:solidFill>
                <a:latin typeface="Calibri"/>
                <a:ea typeface="Calibri"/>
              </a:rPr>
              <a:t>Nodes = Accounts / Wallets</a:t>
            </a:r>
          </a:p>
          <a:p>
            <a:r>
              <a:rPr lang="en-US" sz="1500" b="0">
                <a:solidFill>
                  <a:srgbClr val="DDDDDD"/>
                </a:solidFill>
                <a:latin typeface="Calibri"/>
                <a:ea typeface="Calibri"/>
              </a:rPr>
              <a:t>Edges = Fund transfers (directed)</a:t>
            </a:r>
          </a:p>
          <a:p>
            <a:r>
              <a:rPr lang="en-US" sz="1500" b="0">
                <a:solidFill>
                  <a:srgbClr val="DDDDDD"/>
                </a:solidFill>
                <a:latin typeface="Calibri"/>
                <a:ea typeface="Calibri"/>
              </a:rPr>
              <a:t>Edge weight = cumulative amount</a:t>
            </a:r>
          </a:p>
          <a:p>
            <a:r>
              <a:rPr lang="en-US" sz="1500" b="0">
                <a:solidFill>
                  <a:srgbClr val="DDDDDD"/>
                </a:solidFill>
                <a:latin typeface="Calibri"/>
                <a:ea typeface="Calibri"/>
              </a:rPr>
              <a:t>Edge label = count, timing, pattern</a:t>
            </a:r>
          </a:p>
          <a:p>
            <a:endParaRPr lang="en-US" sz="1500" b="0">
              <a:solidFill>
                <a:srgbClr val="DDDDDD"/>
              </a:solidFill>
              <a:latin typeface="Calibri"/>
              <a:ea typeface="Calibri"/>
            </a:endParaRPr>
          </a:p>
          <a:p>
            <a:r>
              <a:rPr lang="en-US" sz="1500" b="0">
                <a:solidFill>
                  <a:srgbClr val="DDDDDD"/>
                </a:solidFill>
                <a:latin typeface="Calibri"/>
                <a:ea typeface="Calibri"/>
              </a:rPr>
              <a:t>Goal: trace from victim account</a:t>
            </a:r>
          </a:p>
          <a:p>
            <a:r>
              <a:rPr lang="en-US" sz="1500" b="0">
                <a:solidFill>
                  <a:srgbClr val="DDDDDD"/>
                </a:solidFill>
                <a:latin typeface="Calibri"/>
                <a:ea typeface="Calibri"/>
              </a:rPr>
              <a:t>to final beneficiary (cash-out node)</a:t>
            </a:r>
          </a:p>
          <a:p>
            <a:r>
              <a:rPr lang="en-US" sz="1500" b="0">
                <a:solidFill>
                  <a:srgbClr val="DDDDDD"/>
                </a:solidFill>
                <a:latin typeface="Calibri"/>
                <a:ea typeface="Calibri"/>
              </a:rPr>
              <a:t>through n hops of layering.</a:t>
            </a:r>
          </a:p>
        </p:txBody>
      </p:sp>
      <p:sp>
        <p:nvSpPr>
          <p:cNvPr id="100041" name="Algorithms"/>
          <p:cNvSpPr txBox="1"/>
          <p:nvPr/>
        </p:nvSpPr>
        <p:spPr>
          <a:xfrm>
            <a:off x="6120000" y="1872000"/>
            <a:ext cx="5400000" cy="3960000"/>
          </a:xfrm>
          <a:prstGeom prst="rect">
            <a:avLst/>
          </a:prstGeom>
          <a:solidFill>
            <a:srgbClr val="0A0A1A"/>
          </a:solidFill>
        </p:spPr>
        <p:txBody>
          <a:bodyPr/>
          <a:lstStyle/>
          <a:p>
            <a:r>
              <a:rPr lang="en-US" sz="1400" b="0">
                <a:solidFill>
                  <a:srgbClr val="C8D8E8"/>
                </a:solidFill>
                <a:latin typeface="Calibri"/>
                <a:ea typeface="Calibri"/>
              </a:rPr>
              <a:t>GRAPH ALGORITHMS APPLIED</a:t>
            </a:r>
          </a:p>
          <a:p>
            <a:endParaRPr lang="en-US" sz="1400" b="0">
              <a:solidFill>
                <a:srgbClr val="C8D8E8"/>
              </a:solidFill>
              <a:latin typeface="Calibri"/>
              <a:ea typeface="Calibri"/>
            </a:endParaRPr>
          </a:p>
          <a:p>
            <a:r>
              <a:rPr lang="en-US" sz="1400" b="0">
                <a:solidFill>
                  <a:srgbClr val="C8D8E8"/>
                </a:solidFill>
                <a:latin typeface="Calibri"/>
                <a:ea typeface="Calibri"/>
              </a:rPr>
              <a:t>  Shortest Path (Dijkstra)</a:t>
            </a:r>
          </a:p>
          <a:p>
            <a:r>
              <a:rPr lang="en-US" sz="1400" b="0">
                <a:solidFill>
                  <a:srgbClr val="C8D8E8"/>
                </a:solidFill>
                <a:latin typeface="Calibri"/>
                <a:ea typeface="Calibri"/>
              </a:rPr>
              <a:t>    Find fastest route from</a:t>
            </a:r>
          </a:p>
          <a:p>
            <a:r>
              <a:rPr lang="en-US" sz="1400" b="0">
                <a:solidFill>
                  <a:srgbClr val="C8D8E8"/>
                </a:solidFill>
                <a:latin typeface="Calibri"/>
                <a:ea typeface="Calibri"/>
              </a:rPr>
              <a:t>    source to cash-out node</a:t>
            </a:r>
          </a:p>
          <a:p>
            <a:endParaRPr lang="en-US" sz="1400" b="0">
              <a:solidFill>
                <a:srgbClr val="C8D8E8"/>
              </a:solidFill>
              <a:latin typeface="Calibri"/>
              <a:ea typeface="Calibri"/>
            </a:endParaRPr>
          </a:p>
          <a:p>
            <a:r>
              <a:rPr lang="en-US" sz="1400" b="0">
                <a:solidFill>
                  <a:srgbClr val="C8D8E8"/>
                </a:solidFill>
                <a:latin typeface="Calibri"/>
                <a:ea typeface="Calibri"/>
              </a:rPr>
              <a:t>  PageRank</a:t>
            </a:r>
          </a:p>
          <a:p>
            <a:r>
              <a:rPr lang="en-US" sz="1400" b="0">
                <a:solidFill>
                  <a:srgbClr val="C8D8E8"/>
                </a:solidFill>
                <a:latin typeface="Calibri"/>
                <a:ea typeface="Calibri"/>
              </a:rPr>
              <a:t>    High-PageRank accounts are</a:t>
            </a:r>
          </a:p>
          <a:p>
            <a:r>
              <a:rPr lang="en-US" sz="1400" b="0">
                <a:solidFill>
                  <a:srgbClr val="C8D8E8"/>
                </a:solidFill>
                <a:latin typeface="Calibri"/>
                <a:ea typeface="Calibri"/>
              </a:rPr>
              <a:t>    aggregators — money flows</a:t>
            </a:r>
          </a:p>
          <a:p>
            <a:r>
              <a:rPr lang="en-US" sz="1400" b="0">
                <a:solidFill>
                  <a:srgbClr val="C8D8E8"/>
                </a:solidFill>
                <a:latin typeface="Calibri"/>
                <a:ea typeface="Calibri"/>
              </a:rPr>
              <a:t>    through them from many sources</a:t>
            </a:r>
          </a:p>
          <a:p>
            <a:endParaRPr lang="en-US" sz="1400" b="0">
              <a:solidFill>
                <a:srgbClr val="C8D8E8"/>
              </a:solidFill>
              <a:latin typeface="Calibri"/>
              <a:ea typeface="Calibri"/>
            </a:endParaRPr>
          </a:p>
          <a:p>
            <a:r>
              <a:rPr lang="en-US" sz="1400" b="0">
                <a:solidFill>
                  <a:srgbClr val="C8D8E8"/>
                </a:solidFill>
                <a:latin typeface="Calibri"/>
                <a:ea typeface="Calibri"/>
              </a:rPr>
              <a:t>  Betweenness Centrality</a:t>
            </a:r>
          </a:p>
          <a:p>
            <a:r>
              <a:rPr lang="en-US" sz="1400" b="0">
                <a:solidFill>
                  <a:srgbClr val="C8D8E8"/>
                </a:solidFill>
                <a:latin typeface="Calibri"/>
                <a:ea typeface="Calibri"/>
              </a:rPr>
              <a:t>    Coordinator accounts sit on</a:t>
            </a:r>
          </a:p>
          <a:p>
            <a:r>
              <a:rPr lang="en-US" sz="1400" b="0">
                <a:solidFill>
                  <a:srgbClr val="C8D8E8"/>
                </a:solidFill>
                <a:latin typeface="Calibri"/>
                <a:ea typeface="Calibri"/>
              </a:rPr>
              <a:t>    the most paths between</a:t>
            </a:r>
          </a:p>
          <a:p>
            <a:r>
              <a:rPr lang="en-US" sz="1400" b="0">
                <a:solidFill>
                  <a:srgbClr val="C8D8E8"/>
                </a:solidFill>
                <a:latin typeface="Calibri"/>
                <a:ea typeface="Calibri"/>
              </a:rPr>
              <a:t>    sources and sinks</a:t>
            </a:r>
          </a:p>
          <a:p>
            <a:endParaRPr lang="en-US" sz="1400" b="0">
              <a:solidFill>
                <a:srgbClr val="C8D8E8"/>
              </a:solidFill>
              <a:latin typeface="Calibri"/>
              <a:ea typeface="Calibri"/>
            </a:endParaRPr>
          </a:p>
          <a:p>
            <a:r>
              <a:rPr lang="en-US" sz="1400" b="0">
                <a:solidFill>
                  <a:srgbClr val="C8D8E8"/>
                </a:solidFill>
                <a:latin typeface="Calibri"/>
                <a:ea typeface="Calibri"/>
              </a:rPr>
              <a:t>  Strongly Connected Components</a:t>
            </a:r>
          </a:p>
          <a:p>
            <a:r>
              <a:rPr lang="en-US" sz="1400" b="0">
                <a:solidFill>
                  <a:srgbClr val="C8D8E8"/>
                </a:solidFill>
                <a:latin typeface="Calibri"/>
                <a:ea typeface="Calibri"/>
              </a:rPr>
              <a:t>    Detect round-trip / cycle fraud</a:t>
            </a:r>
          </a:p>
          <a:p>
            <a:r>
              <a:rPr lang="en-US" sz="1400" b="0">
                <a:solidFill>
                  <a:srgbClr val="C8D8E8"/>
                </a:solidFill>
                <a:latin typeface="Calibri"/>
                <a:ea typeface="Calibri"/>
              </a:rPr>
              <a:t>    where money returns to origin</a:t>
            </a:r>
          </a:p>
        </p:txBody>
      </p:sp>
      <p:sp>
        <p:nvSpPr>
          <p:cNvPr id="100042" name="Timing"/>
          <p:cNvSpPr txBox="1"/>
          <p:nvPr/>
        </p:nvSpPr>
        <p:spPr>
          <a:xfrm>
            <a:off x="540000" y="5220000"/>
            <a:ext cx="10800000" cy="900000"/>
          </a:xfrm>
          <a:prstGeom prst="rect">
            <a:avLst/>
          </a:prstGeom>
          <a:solidFill>
            <a:srgbClr val="000D1A"/>
          </a:solidFill>
        </p:spPr>
        <p:txBody>
          <a:bodyPr/>
          <a:lstStyle/>
          <a:p>
            <a:r>
              <a:rPr lang="en-US" sz="1600" b="0">
                <a:solidFill>
                  <a:srgbClr val="1A6FFF"/>
                </a:solidFill>
                <a:latin typeface="Calibri"/>
                <a:ea typeface="Calibri"/>
              </a:rPr>
              <a:t>Critical dimension: TIME. Funds passing through 4 accounts in under 90 minutes = structuring signal. Graph edge timestamps reveal velocity of the fraud chain.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43" name="TopAccent"/>
          <p:cNvSpPr txBox="1"/>
          <p:nvPr/>
        </p:nvSpPr>
        <p:spPr>
          <a:xfrm>
            <a:off x="0" y="0"/>
            <a:ext cx="12193200" cy="180000"/>
          </a:xfrm>
          <a:prstGeom prst="rect">
            <a:avLst/>
          </a:prstGeom>
          <a:solidFill>
            <a:srgbClr val="00CC88"/>
          </a:solidFill>
        </p:spPr>
        <p:txBody>
          <a:bodyPr/>
          <a:lstStyle/>
          <a:p>
            <a:endParaRPr lang="en-US" sz="1000">
              <a:solidFill>
                <a:srgbClr val="00CC88"/>
              </a:solidFill>
            </a:endParaRPr>
          </a:p>
        </p:txBody>
      </p:sp>
      <p:sp>
        <p:nvSpPr>
          <p:cNvPr id="100044" name="SlideNum"/>
          <p:cNvSpPr txBox="1"/>
          <p:nvPr/>
        </p:nvSpPr>
        <p:spPr>
          <a:xfrm>
            <a:off x="540000" y="288000"/>
            <a:ext cx="9000000" cy="288000"/>
          </a:xfrm>
          <a:prstGeom prst="rect">
            <a:avLst/>
          </a:prstGeom>
        </p:spPr>
        <p:txBody>
          <a:bodyPr/>
          <a:lstStyle/>
          <a:p>
            <a:r>
              <a:rPr lang="en-US" sz="1200" b="1">
                <a:solidFill>
                  <a:srgbClr val="00CC88"/>
                </a:solidFill>
                <a:latin typeface="Calibri"/>
                <a:ea typeface="Calibri"/>
              </a:rPr>
              <a:t>06  LAYER 3 — DEVICE &amp; BEHAVIOURAL GRAPH</a:t>
            </a:r>
          </a:p>
        </p:txBody>
      </p:sp>
      <p:sp>
        <p:nvSpPr>
          <p:cNvPr id="100045"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Layer 3: Device &amp; Behavioural Graph</a:t>
            </a:r>
          </a:p>
          <a:p>
            <a:r>
              <a:rPr lang="en-US" sz="3400" b="1">
                <a:solidFill>
                  <a:srgbClr val="FFFFFF"/>
                </a:solidFill>
                <a:latin typeface="Calibri"/>
                <a:ea typeface="Calibri"/>
              </a:rPr>
              <a:t>— One Device, Dozens of 'Different' Customers</a:t>
            </a:r>
          </a:p>
        </p:txBody>
      </p:sp>
      <p:sp>
        <p:nvSpPr>
          <p:cNvPr id="100046" name="DevSig"/>
          <p:cNvSpPr txBox="1"/>
          <p:nvPr/>
        </p:nvSpPr>
        <p:spPr>
          <a:xfrm>
            <a:off x="540000" y="1872000"/>
            <a:ext cx="5040000" cy="3960000"/>
          </a:xfrm>
          <a:prstGeom prst="rect">
            <a:avLst/>
          </a:prstGeom>
          <a:solidFill>
            <a:srgbClr val="0A0A1A"/>
          </a:solidFill>
        </p:spPr>
        <p:txBody>
          <a:bodyPr/>
          <a:lstStyle/>
          <a:p>
            <a:r>
              <a:rPr lang="en-US" sz="1400" b="0">
                <a:solidFill>
                  <a:srgbClr val="DDDDDD"/>
                </a:solidFill>
                <a:latin typeface="Calibri"/>
                <a:ea typeface="Calibri"/>
              </a:rPr>
              <a:t>DEVICE FINGERPRINT GRAPH</a:t>
            </a:r>
          </a:p>
          <a:p>
            <a:endParaRPr lang="en-US" sz="1400" b="0">
              <a:solidFill>
                <a:srgbClr val="DDDDDD"/>
              </a:solidFill>
              <a:latin typeface="Calibri"/>
              <a:ea typeface="Calibri"/>
            </a:endParaRPr>
          </a:p>
          <a:p>
            <a:r>
              <a:rPr lang="en-US" sz="1400" b="0">
                <a:solidFill>
                  <a:srgbClr val="DDDDDD"/>
                </a:solidFill>
                <a:latin typeface="Calibri"/>
                <a:ea typeface="Calibri"/>
              </a:rPr>
              <a:t>Nodes: Accounts + Device IDs</a:t>
            </a:r>
          </a:p>
          <a:p>
            <a:r>
              <a:rPr lang="en-US" sz="1400" b="0">
                <a:solidFill>
                  <a:srgbClr val="DDDDDD"/>
                </a:solidFill>
                <a:latin typeface="Calibri"/>
                <a:ea typeface="Calibri"/>
              </a:rPr>
              <a:t>Edges: Account logged in using Device</a:t>
            </a:r>
          </a:p>
          <a:p>
            <a:endParaRPr lang="en-US" sz="1400" b="0">
              <a:solidFill>
                <a:srgbClr val="DDDDDD"/>
              </a:solidFill>
              <a:latin typeface="Calibri"/>
              <a:ea typeface="Calibri"/>
            </a:endParaRPr>
          </a:p>
          <a:p>
            <a:r>
              <a:rPr lang="en-US" sz="1400" b="0">
                <a:solidFill>
                  <a:srgbClr val="DDDDDD"/>
                </a:solidFill>
                <a:latin typeface="Calibri"/>
                <a:ea typeface="Calibri"/>
              </a:rPr>
              <a:t>If device D connects to accounts</a:t>
            </a:r>
          </a:p>
          <a:p>
            <a:r>
              <a:rPr lang="en-US" sz="1400" b="0">
                <a:solidFill>
                  <a:srgbClr val="DDDDDD"/>
                </a:solidFill>
                <a:latin typeface="Calibri"/>
                <a:ea typeface="Calibri"/>
              </a:rPr>
              <a:t>A1, A2, A3 ... A47:</a:t>
            </a:r>
          </a:p>
          <a:p>
            <a:r>
              <a:rPr lang="en-US" sz="1400" b="0">
                <a:solidFill>
                  <a:srgbClr val="DDDDDD"/>
                </a:solidFill>
                <a:latin typeface="Calibri"/>
                <a:ea typeface="Calibri"/>
              </a:rPr>
              <a:t>  -&gt; High degree node</a:t>
            </a:r>
          </a:p>
          <a:p>
            <a:r>
              <a:rPr lang="en-US" sz="1400" b="0">
                <a:solidFill>
                  <a:srgbClr val="DDDDDD"/>
                </a:solidFill>
                <a:latin typeface="Calibri"/>
                <a:ea typeface="Calibri"/>
              </a:rPr>
              <a:t>  -&gt; All 47 accounts are suspicious</a:t>
            </a:r>
          </a:p>
          <a:p>
            <a:r>
              <a:rPr lang="en-US" sz="1400" b="0">
                <a:solidFill>
                  <a:srgbClr val="DDDDDD"/>
                </a:solidFill>
                <a:latin typeface="Calibri"/>
                <a:ea typeface="Calibri"/>
              </a:rPr>
              <a:t>  -&gt; Even if each account looks</a:t>
            </a:r>
          </a:p>
          <a:p>
            <a:r>
              <a:rPr lang="en-US" sz="1400" b="0">
                <a:solidFill>
                  <a:srgbClr val="DDDDDD"/>
                </a:solidFill>
                <a:latin typeface="Calibri"/>
                <a:ea typeface="Calibri"/>
              </a:rPr>
              <a:t>     individually clean</a:t>
            </a:r>
          </a:p>
          <a:p>
            <a:endParaRPr lang="en-US" sz="1400" b="0">
              <a:solidFill>
                <a:srgbClr val="DDDDDD"/>
              </a:solidFill>
              <a:latin typeface="Calibri"/>
              <a:ea typeface="Calibri"/>
            </a:endParaRPr>
          </a:p>
          <a:p>
            <a:r>
              <a:rPr lang="en-US" sz="1400" b="0">
                <a:solidFill>
                  <a:srgbClr val="DDDDDD"/>
                </a:solidFill>
                <a:latin typeface="Calibri"/>
                <a:ea typeface="Calibri"/>
              </a:rPr>
              <a:t>Device sharing across unrelated</a:t>
            </a:r>
          </a:p>
          <a:p>
            <a:r>
              <a:rPr lang="en-US" sz="1400" b="0">
                <a:solidFill>
                  <a:srgbClr val="DDDDDD"/>
                </a:solidFill>
                <a:latin typeface="Calibri"/>
                <a:ea typeface="Calibri"/>
              </a:rPr>
              <a:t>customers = account takeover</a:t>
            </a:r>
          </a:p>
          <a:p>
            <a:r>
              <a:rPr lang="en-US" sz="1400" b="0">
                <a:solidFill>
                  <a:srgbClr val="DDDDDD"/>
                </a:solidFill>
                <a:latin typeface="Calibri"/>
                <a:ea typeface="Calibri"/>
              </a:rPr>
              <a:t>or mule farm signal.</a:t>
            </a:r>
          </a:p>
        </p:txBody>
      </p:sp>
      <p:sp>
        <p:nvSpPr>
          <p:cNvPr id="100047" name="BehSig"/>
          <p:cNvSpPr txBox="1"/>
          <p:nvPr/>
        </p:nvSpPr>
        <p:spPr>
          <a:xfrm>
            <a:off x="6120000" y="1872000"/>
            <a:ext cx="5400000" cy="3960000"/>
          </a:xfrm>
          <a:prstGeom prst="rect">
            <a:avLst/>
          </a:prstGeom>
          <a:solidFill>
            <a:srgbClr val="0A0A1A"/>
          </a:solidFill>
        </p:spPr>
        <p:txBody>
          <a:bodyPr/>
          <a:lstStyle/>
          <a:p>
            <a:r>
              <a:rPr lang="en-US" sz="1400" b="0">
                <a:solidFill>
                  <a:srgbClr val="DDDDDD"/>
                </a:solidFill>
                <a:latin typeface="Calibri"/>
                <a:ea typeface="Calibri"/>
              </a:rPr>
              <a:t>BEHAVIOURAL SEQUENCE GRAPH</a:t>
            </a:r>
          </a:p>
          <a:p>
            <a:endParaRPr lang="en-US" sz="1400" b="0">
              <a:solidFill>
                <a:srgbClr val="DDDDDD"/>
              </a:solidFill>
              <a:latin typeface="Calibri"/>
              <a:ea typeface="Calibri"/>
            </a:endParaRPr>
          </a:p>
          <a:p>
            <a:r>
              <a:rPr lang="en-US" sz="1400" b="0">
                <a:solidFill>
                  <a:srgbClr val="DDDDDD"/>
                </a:solidFill>
                <a:latin typeface="Calibri"/>
                <a:ea typeface="Calibri"/>
              </a:rPr>
              <a:t>Model customer sessions as</a:t>
            </a:r>
          </a:p>
          <a:p>
            <a:r>
              <a:rPr lang="en-US" sz="1400" b="0">
                <a:solidFill>
                  <a:srgbClr val="DDDDDD"/>
                </a:solidFill>
                <a:latin typeface="Calibri"/>
                <a:ea typeface="Calibri"/>
              </a:rPr>
              <a:t>sequence graphs.</a:t>
            </a:r>
          </a:p>
          <a:p>
            <a:endParaRPr lang="en-US" sz="1400" b="0">
              <a:solidFill>
                <a:srgbClr val="DDDDDD"/>
              </a:solidFill>
              <a:latin typeface="Calibri"/>
              <a:ea typeface="Calibri"/>
            </a:endParaRPr>
          </a:p>
          <a:p>
            <a:r>
              <a:rPr lang="en-US" sz="1400" b="0">
                <a:solidFill>
                  <a:srgbClr val="DDDDDD"/>
                </a:solidFill>
                <a:latin typeface="Calibri"/>
                <a:ea typeface="Calibri"/>
              </a:rPr>
              <a:t>Normal customer:</a:t>
            </a:r>
          </a:p>
          <a:p>
            <a:r>
              <a:rPr lang="en-US" sz="1400" b="0">
                <a:solidFill>
                  <a:srgbClr val="DDDDDD"/>
                </a:solidFill>
                <a:latin typeface="Calibri"/>
                <a:ea typeface="Calibri"/>
              </a:rPr>
              <a:t>  Login -&gt; Check balance -&gt;</a:t>
            </a:r>
          </a:p>
          <a:p>
            <a:r>
              <a:rPr lang="en-US" sz="1400" b="0">
                <a:solidFill>
                  <a:srgbClr val="DDDDDD"/>
                </a:solidFill>
                <a:latin typeface="Calibri"/>
                <a:ea typeface="Calibri"/>
              </a:rPr>
              <a:t>  Pay -&gt; Logout</a:t>
            </a:r>
          </a:p>
          <a:p>
            <a:r>
              <a:rPr lang="en-US" sz="1400" b="0">
                <a:solidFill>
                  <a:srgbClr val="DDDDDD"/>
                </a:solidFill>
                <a:latin typeface="Calibri"/>
                <a:ea typeface="Calibri"/>
              </a:rPr>
              <a:t>  (unique path each time)</a:t>
            </a:r>
          </a:p>
          <a:p>
            <a:endParaRPr lang="en-US" sz="1400" b="0">
              <a:solidFill>
                <a:srgbClr val="DDDDDD"/>
              </a:solidFill>
              <a:latin typeface="Calibri"/>
              <a:ea typeface="Calibri"/>
            </a:endParaRPr>
          </a:p>
          <a:p>
            <a:r>
              <a:rPr lang="en-US" sz="1400" b="0">
                <a:solidFill>
                  <a:srgbClr val="DDDDDD"/>
                </a:solidFill>
                <a:latin typeface="Calibri"/>
                <a:ea typeface="Calibri"/>
              </a:rPr>
              <a:t>Account takeover bot:</a:t>
            </a:r>
          </a:p>
          <a:p>
            <a:r>
              <a:rPr lang="en-US" sz="1400" b="0">
                <a:solidFill>
                  <a:srgbClr val="DDDDDD"/>
                </a:solidFill>
                <a:latin typeface="Calibri"/>
                <a:ea typeface="Calibri"/>
              </a:rPr>
              <a:t>  Login -&gt; Transfer Max -&gt;</a:t>
            </a:r>
          </a:p>
          <a:p>
            <a:r>
              <a:rPr lang="en-US" sz="1400" b="0">
                <a:solidFill>
                  <a:srgbClr val="DDDDDD"/>
                </a:solidFill>
                <a:latin typeface="Calibri"/>
                <a:ea typeface="Calibri"/>
              </a:rPr>
              <a:t>  Logout</a:t>
            </a:r>
          </a:p>
          <a:p>
            <a:r>
              <a:rPr lang="en-US" sz="1400" b="0">
                <a:solidFill>
                  <a:srgbClr val="DDDDDD"/>
                </a:solidFill>
                <a:latin typeface="Calibri"/>
                <a:ea typeface="Calibri"/>
              </a:rPr>
              <a:t>  (identical path on 200 accounts)</a:t>
            </a:r>
          </a:p>
          <a:p>
            <a:r>
              <a:rPr lang="en-US" sz="1400" b="0">
                <a:solidFill>
                  <a:srgbClr val="DDDDDD"/>
                </a:solidFill>
                <a:latin typeface="Calibri"/>
                <a:ea typeface="Calibri"/>
              </a:rPr>
              <a:t>  Jaccard similarity &gt; 0.95</a:t>
            </a:r>
          </a:p>
          <a:p>
            <a:r>
              <a:rPr lang="en-US" sz="1400" b="0">
                <a:solidFill>
                  <a:srgbClr val="DDDDDD"/>
                </a:solidFill>
                <a:latin typeface="Calibri"/>
                <a:ea typeface="Calibri"/>
              </a:rPr>
              <a:t>  across session graphs = bot ring</a:t>
            </a:r>
          </a:p>
          <a:p>
            <a:endParaRPr lang="en-US" sz="1400" b="0">
              <a:solidFill>
                <a:srgbClr val="DDDDDD"/>
              </a:solidFill>
              <a:latin typeface="Calibri"/>
              <a:ea typeface="Calibri"/>
            </a:endParaRPr>
          </a:p>
          <a:p>
            <a:r>
              <a:rPr lang="en-US" sz="1400" b="0">
                <a:solidFill>
                  <a:srgbClr val="DDDDDD"/>
                </a:solidFill>
                <a:latin typeface="Calibri"/>
                <a:ea typeface="Calibri"/>
              </a:rPr>
              <a:t>Mule coordinator:</a:t>
            </a:r>
          </a:p>
          <a:p>
            <a:r>
              <a:rPr lang="en-US" sz="1400" b="0">
                <a:solidFill>
                  <a:srgbClr val="DDDDDD"/>
                </a:solidFill>
                <a:latin typeface="Calibri"/>
                <a:ea typeface="Calibri"/>
              </a:rPr>
              <a:t>  Login burst on 8-12 accounts</a:t>
            </a:r>
          </a:p>
          <a:p>
            <a:r>
              <a:rPr lang="en-US" sz="1400" b="0">
                <a:solidFill>
                  <a:srgbClr val="DDDDDD"/>
                </a:solidFill>
                <a:latin typeface="Calibri"/>
                <a:ea typeface="Calibri"/>
              </a:rPr>
              <a:t>  within 10 minutes from same IP</a:t>
            </a:r>
          </a:p>
          <a:p>
            <a:r>
              <a:rPr lang="en-US" sz="1400" b="0">
                <a:solidFill>
                  <a:srgbClr val="DDDDDD"/>
                </a:solidFill>
                <a:latin typeface="Calibri"/>
                <a:ea typeface="Calibri"/>
              </a:rPr>
              <a:t>  = automated mule management</a:t>
            </a:r>
          </a:p>
        </p:txBody>
      </p:sp>
      <p:sp>
        <p:nvSpPr>
          <p:cNvPr id="100048" name="Stat"/>
          <p:cNvSpPr txBox="1"/>
          <p:nvPr/>
        </p:nvSpPr>
        <p:spPr>
          <a:xfrm>
            <a:off x="540000" y="6120000"/>
            <a:ext cx="10800000" cy="720000"/>
          </a:xfrm>
          <a:prstGeom prst="rect">
            <a:avLst/>
          </a:prstGeom>
          <a:solidFill>
            <a:srgbClr val="001A0E"/>
          </a:solidFill>
        </p:spPr>
        <p:txBody>
          <a:bodyPr/>
          <a:lstStyle/>
          <a:p>
            <a:r>
              <a:rPr lang="en-US" sz="1600" b="0">
                <a:solidFill>
                  <a:srgbClr val="00CC88"/>
                </a:solidFill>
                <a:latin typeface="Calibri"/>
                <a:ea typeface="Calibri"/>
              </a:rPr>
              <a:t>Industry data: 73% of mule farm operations share at least one device fingerprint across 10+ accounts. Graph detection catches this; individual ML scoring misses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49" name="TopAccent"/>
          <p:cNvSpPr txBox="1"/>
          <p:nvPr/>
        </p:nvSpPr>
        <p:spPr>
          <a:xfrm>
            <a:off x="0" y="0"/>
            <a:ext cx="12193200" cy="180000"/>
          </a:xfrm>
          <a:prstGeom prst="rect">
            <a:avLst/>
          </a:prstGeom>
          <a:solidFill>
            <a:srgbClr val="FF9500"/>
          </a:solidFill>
        </p:spPr>
        <p:txBody>
          <a:bodyPr/>
          <a:lstStyle/>
          <a:p>
            <a:endParaRPr lang="en-US" sz="1000">
              <a:solidFill>
                <a:srgbClr val="FF9500"/>
              </a:solidFill>
            </a:endParaRPr>
          </a:p>
        </p:txBody>
      </p:sp>
      <p:sp>
        <p:nvSpPr>
          <p:cNvPr id="100050" name="SlideNum"/>
          <p:cNvSpPr txBox="1"/>
          <p:nvPr/>
        </p:nvSpPr>
        <p:spPr>
          <a:xfrm>
            <a:off x="540000" y="288000"/>
            <a:ext cx="9000000" cy="288000"/>
          </a:xfrm>
          <a:prstGeom prst="rect">
            <a:avLst/>
          </a:prstGeom>
        </p:spPr>
        <p:txBody>
          <a:bodyPr/>
          <a:lstStyle/>
          <a:p>
            <a:r>
              <a:rPr lang="en-US" sz="1200" b="1">
                <a:solidFill>
                  <a:srgbClr val="FF9500"/>
                </a:solidFill>
                <a:latin typeface="Calibri"/>
                <a:ea typeface="Calibri"/>
              </a:rPr>
              <a:t>07  THE THREE-LAYER FUSION MODEL</a:t>
            </a:r>
          </a:p>
        </p:txBody>
      </p:sp>
      <p:sp>
        <p:nvSpPr>
          <p:cNvPr id="100051"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Fusing All Three Layers:</a:t>
            </a:r>
          </a:p>
          <a:p>
            <a:r>
              <a:rPr lang="en-US" sz="3400" b="1">
                <a:solidFill>
                  <a:srgbClr val="FFFFFF"/>
                </a:solidFill>
                <a:latin typeface="Calibri"/>
                <a:ea typeface="Calibri"/>
              </a:rPr>
              <a:t>The Multi-Layer Fraud Knowledge Graph</a:t>
            </a:r>
          </a:p>
        </p:txBody>
      </p:sp>
      <p:sp>
        <p:nvSpPr>
          <p:cNvPr id="100052" name="L1Box"/>
          <p:cNvSpPr txBox="1"/>
          <p:nvPr/>
        </p:nvSpPr>
        <p:spPr>
          <a:xfrm>
            <a:off x="360000" y="1872000"/>
            <a:ext cx="3420000" cy="2880000"/>
          </a:xfrm>
          <a:prstGeom prst="rect">
            <a:avLst/>
          </a:prstGeom>
          <a:solidFill>
            <a:srgbClr val="100020"/>
          </a:solidFill>
        </p:spPr>
        <p:txBody>
          <a:bodyPr/>
          <a:lstStyle/>
          <a:p>
            <a:r>
              <a:rPr lang="en-US" sz="1400" b="0">
                <a:solidFill>
                  <a:srgbClr val="CC44FF"/>
                </a:solidFill>
                <a:latin typeface="Calibri"/>
                <a:ea typeface="Calibri"/>
              </a:rPr>
              <a:t>LAYER 1</a:t>
            </a:r>
          </a:p>
          <a:p>
            <a:r>
              <a:rPr lang="en-US" sz="1400" b="0">
                <a:solidFill>
                  <a:srgbClr val="CC44FF"/>
                </a:solidFill>
                <a:latin typeface="Calibri"/>
                <a:ea typeface="Calibri"/>
              </a:rPr>
              <a:t>Identity Graph</a:t>
            </a:r>
          </a:p>
          <a:p>
            <a:endParaRPr lang="en-US" sz="1400" b="0">
              <a:solidFill>
                <a:srgbClr val="CC44FF"/>
              </a:solidFill>
              <a:latin typeface="Calibri"/>
              <a:ea typeface="Calibri"/>
            </a:endParaRPr>
          </a:p>
          <a:p>
            <a:r>
              <a:rPr lang="en-US" sz="1400" b="0">
                <a:solidFill>
                  <a:srgbClr val="CC44FF"/>
                </a:solidFill>
                <a:latin typeface="Calibri"/>
                <a:ea typeface="Calibri"/>
              </a:rPr>
              <a:t>Nodes: Persons, Documents</a:t>
            </a:r>
          </a:p>
          <a:p>
            <a:r>
              <a:rPr lang="en-US" sz="1400" b="0">
                <a:solidFill>
                  <a:srgbClr val="CC44FF"/>
                </a:solidFill>
                <a:latin typeface="Calibri"/>
                <a:ea typeface="Calibri"/>
              </a:rPr>
              <a:t>Edges: Shared KYC attributes</a:t>
            </a:r>
          </a:p>
          <a:p>
            <a:r>
              <a:rPr lang="en-US" sz="1400" b="0">
                <a:solidFill>
                  <a:srgbClr val="CC44FF"/>
                </a:solidFill>
                <a:latin typeface="Calibri"/>
                <a:ea typeface="Calibri"/>
              </a:rPr>
              <a:t>Signal: Synthetic identity rings</a:t>
            </a:r>
          </a:p>
          <a:p>
            <a:r>
              <a:rPr lang="en-US" sz="1400" b="0">
                <a:solidFill>
                  <a:srgbClr val="CC44FF"/>
                </a:solidFill>
                <a:latin typeface="Calibri"/>
                <a:ea typeface="Calibri"/>
              </a:rPr>
              <a:t>Algorithm: Connected components</a:t>
            </a:r>
          </a:p>
          <a:p>
            <a:r>
              <a:rPr lang="en-US" sz="1400" b="0">
                <a:solidFill>
                  <a:srgbClr val="CC44FF"/>
                </a:solidFill>
                <a:latin typeface="Calibri"/>
                <a:ea typeface="Calibri"/>
              </a:rPr>
              <a:t>             Jaccard similarity</a:t>
            </a:r>
          </a:p>
        </p:txBody>
      </p:sp>
      <p:sp>
        <p:nvSpPr>
          <p:cNvPr id="100053" name="Plus1"/>
          <p:cNvSpPr txBox="1"/>
          <p:nvPr/>
        </p:nvSpPr>
        <p:spPr>
          <a:xfrm>
            <a:off x="3960000" y="3060000"/>
            <a:ext cx="540000" cy="540000"/>
          </a:xfrm>
          <a:prstGeom prst="rect">
            <a:avLst/>
          </a:prstGeom>
        </p:spPr>
        <p:txBody>
          <a:bodyPr/>
          <a:lstStyle/>
          <a:p>
            <a:r>
              <a:rPr lang="en-US" sz="2800" b="1">
                <a:solidFill>
                  <a:srgbClr val="FF9500"/>
                </a:solidFill>
                <a:latin typeface="Calibri"/>
                <a:ea typeface="Calibri"/>
              </a:rPr>
              <a:t>+</a:t>
            </a:r>
          </a:p>
        </p:txBody>
      </p:sp>
      <p:sp>
        <p:nvSpPr>
          <p:cNvPr id="100054" name="L2Box"/>
          <p:cNvSpPr txBox="1"/>
          <p:nvPr/>
        </p:nvSpPr>
        <p:spPr>
          <a:xfrm>
            <a:off x="4680000" y="1872000"/>
            <a:ext cx="3420000" cy="2880000"/>
          </a:xfrm>
          <a:prstGeom prst="rect">
            <a:avLst/>
          </a:prstGeom>
          <a:solidFill>
            <a:srgbClr val="00091A"/>
          </a:solidFill>
        </p:spPr>
        <p:txBody>
          <a:bodyPr/>
          <a:lstStyle/>
          <a:p>
            <a:r>
              <a:rPr lang="en-US" sz="1400" b="0">
                <a:solidFill>
                  <a:srgbClr val="1A6FFF"/>
                </a:solidFill>
                <a:latin typeface="Calibri"/>
                <a:ea typeface="Calibri"/>
              </a:rPr>
              <a:t>LAYER 2</a:t>
            </a:r>
          </a:p>
          <a:p>
            <a:r>
              <a:rPr lang="en-US" sz="1400" b="0">
                <a:solidFill>
                  <a:srgbClr val="1A6FFF"/>
                </a:solidFill>
                <a:latin typeface="Calibri"/>
                <a:ea typeface="Calibri"/>
              </a:rPr>
              <a:t>Transaction Graph</a:t>
            </a:r>
          </a:p>
          <a:p>
            <a:endParaRPr lang="en-US" sz="1400" b="0">
              <a:solidFill>
                <a:srgbClr val="1A6FFF"/>
              </a:solidFill>
              <a:latin typeface="Calibri"/>
              <a:ea typeface="Calibri"/>
            </a:endParaRPr>
          </a:p>
          <a:p>
            <a:r>
              <a:rPr lang="en-US" sz="1400" b="0">
                <a:solidFill>
                  <a:srgbClr val="1A6FFF"/>
                </a:solidFill>
                <a:latin typeface="Calibri"/>
                <a:ea typeface="Calibri"/>
              </a:rPr>
              <a:t>Nodes: Accounts, Wallets</a:t>
            </a:r>
          </a:p>
          <a:p>
            <a:r>
              <a:rPr lang="en-US" sz="1400" b="0">
                <a:solidFill>
                  <a:srgbClr val="1A6FFF"/>
                </a:solidFill>
                <a:latin typeface="Calibri"/>
                <a:ea typeface="Calibri"/>
              </a:rPr>
              <a:t>Edges: Fund flows (directed)</a:t>
            </a:r>
          </a:p>
          <a:p>
            <a:r>
              <a:rPr lang="en-US" sz="1400" b="0">
                <a:solidFill>
                  <a:srgbClr val="1A6FFF"/>
                </a:solidFill>
                <a:latin typeface="Calibri"/>
                <a:ea typeface="Calibri"/>
              </a:rPr>
              <a:t>Signal: Layering, cycles, hubs</a:t>
            </a:r>
          </a:p>
          <a:p>
            <a:r>
              <a:rPr lang="en-US" sz="1400" b="0">
                <a:solidFill>
                  <a:srgbClr val="1A6FFF"/>
                </a:solidFill>
                <a:latin typeface="Calibri"/>
                <a:ea typeface="Calibri"/>
              </a:rPr>
              <a:t>Algorithm: PageRank, Betweenness</a:t>
            </a:r>
          </a:p>
          <a:p>
            <a:r>
              <a:rPr lang="en-US" sz="1400" b="0">
                <a:solidFill>
                  <a:srgbClr val="1A6FFF"/>
                </a:solidFill>
                <a:latin typeface="Calibri"/>
                <a:ea typeface="Calibri"/>
              </a:rPr>
              <a:t>             Cycle detection</a:t>
            </a:r>
          </a:p>
        </p:txBody>
      </p:sp>
      <p:sp>
        <p:nvSpPr>
          <p:cNvPr id="100055" name="Plus2"/>
          <p:cNvSpPr txBox="1"/>
          <p:nvPr/>
        </p:nvSpPr>
        <p:spPr>
          <a:xfrm>
            <a:off x="8280000" y="3060000"/>
            <a:ext cx="540000" cy="540000"/>
          </a:xfrm>
          <a:prstGeom prst="rect">
            <a:avLst/>
          </a:prstGeom>
        </p:spPr>
        <p:txBody>
          <a:bodyPr/>
          <a:lstStyle/>
          <a:p>
            <a:r>
              <a:rPr lang="en-US" sz="2800" b="1">
                <a:solidFill>
                  <a:srgbClr val="FF9500"/>
                </a:solidFill>
                <a:latin typeface="Calibri"/>
                <a:ea typeface="Calibri"/>
              </a:rPr>
              <a:t>+</a:t>
            </a:r>
          </a:p>
        </p:txBody>
      </p:sp>
      <p:sp>
        <p:nvSpPr>
          <p:cNvPr id="100056" name="L3Box"/>
          <p:cNvSpPr txBox="1"/>
          <p:nvPr/>
        </p:nvSpPr>
        <p:spPr>
          <a:xfrm>
            <a:off x="9000000" y="1872000"/>
            <a:ext cx="2880000" cy="2880000"/>
          </a:xfrm>
          <a:prstGeom prst="rect">
            <a:avLst/>
          </a:prstGeom>
          <a:solidFill>
            <a:srgbClr val="001A0E"/>
          </a:solidFill>
        </p:spPr>
        <p:txBody>
          <a:bodyPr/>
          <a:lstStyle/>
          <a:p>
            <a:r>
              <a:rPr lang="en-US" sz="1400" b="0">
                <a:solidFill>
                  <a:srgbClr val="00CC88"/>
                </a:solidFill>
                <a:latin typeface="Calibri"/>
                <a:ea typeface="Calibri"/>
              </a:rPr>
              <a:t>LAYER 3</a:t>
            </a:r>
          </a:p>
          <a:p>
            <a:r>
              <a:rPr lang="en-US" sz="1400" b="0">
                <a:solidFill>
                  <a:srgbClr val="00CC88"/>
                </a:solidFill>
                <a:latin typeface="Calibri"/>
                <a:ea typeface="Calibri"/>
              </a:rPr>
              <a:t>Device Graph</a:t>
            </a:r>
          </a:p>
          <a:p>
            <a:endParaRPr lang="en-US" sz="1400" b="0">
              <a:solidFill>
                <a:srgbClr val="00CC88"/>
              </a:solidFill>
              <a:latin typeface="Calibri"/>
              <a:ea typeface="Calibri"/>
            </a:endParaRPr>
          </a:p>
          <a:p>
            <a:r>
              <a:rPr lang="en-US" sz="1400" b="0">
                <a:solidFill>
                  <a:srgbClr val="00CC88"/>
                </a:solidFill>
                <a:latin typeface="Calibri"/>
                <a:ea typeface="Calibri"/>
              </a:rPr>
              <a:t>Nodes: Accounts, Devices</a:t>
            </a:r>
          </a:p>
          <a:p>
            <a:r>
              <a:rPr lang="en-US" sz="1400" b="0">
                <a:solidFill>
                  <a:srgbClr val="00CC88"/>
                </a:solidFill>
                <a:latin typeface="Calibri"/>
                <a:ea typeface="Calibri"/>
              </a:rPr>
              <a:t>Edges: Login events</a:t>
            </a:r>
          </a:p>
          <a:p>
            <a:r>
              <a:rPr lang="en-US" sz="1400" b="0">
                <a:solidFill>
                  <a:srgbClr val="00CC88"/>
                </a:solidFill>
                <a:latin typeface="Calibri"/>
                <a:ea typeface="Calibri"/>
              </a:rPr>
              <a:t>Signal: Mule farms, bot rings</a:t>
            </a:r>
          </a:p>
          <a:p>
            <a:r>
              <a:rPr lang="en-US" sz="1400" b="0">
                <a:solidFill>
                  <a:srgbClr val="00CC88"/>
                </a:solidFill>
                <a:latin typeface="Calibri"/>
                <a:ea typeface="Calibri"/>
              </a:rPr>
              <a:t>Algorithm: Degree centrality</a:t>
            </a:r>
          </a:p>
          <a:p>
            <a:r>
              <a:rPr lang="en-US" sz="1400" b="0">
                <a:solidFill>
                  <a:srgbClr val="00CC88"/>
                </a:solidFill>
                <a:latin typeface="Calibri"/>
                <a:ea typeface="Calibri"/>
              </a:rPr>
              <a:t>             Session similarity</a:t>
            </a:r>
          </a:p>
        </p:txBody>
      </p:sp>
      <p:sp>
        <p:nvSpPr>
          <p:cNvPr id="100057" name="FusionResult"/>
          <p:cNvSpPr txBox="1"/>
          <p:nvPr/>
        </p:nvSpPr>
        <p:spPr>
          <a:xfrm>
            <a:off x="360000" y="5040000"/>
            <a:ext cx="11160000" cy="1620000"/>
          </a:xfrm>
          <a:prstGeom prst="rect">
            <a:avLst/>
          </a:prstGeom>
          <a:solidFill>
            <a:srgbClr val="1A0A00"/>
          </a:solidFill>
        </p:spPr>
        <p:txBody>
          <a:bodyPr/>
          <a:lstStyle/>
          <a:p>
            <a:r>
              <a:rPr lang="en-US" sz="1500" b="0">
                <a:solidFill>
                  <a:srgbClr val="FFFFFF"/>
                </a:solidFill>
                <a:latin typeface="Calibri"/>
                <a:ea typeface="Calibri"/>
              </a:rPr>
              <a:t>MULTI-LAYER FUSION</a:t>
            </a:r>
          </a:p>
          <a:p>
            <a:endParaRPr lang="en-US" sz="1500" b="0">
              <a:solidFill>
                <a:srgbClr val="FFFFFF"/>
              </a:solidFill>
              <a:latin typeface="Calibri"/>
              <a:ea typeface="Calibri"/>
            </a:endParaRPr>
          </a:p>
          <a:p>
            <a:r>
              <a:rPr lang="en-US" sz="1500" b="0">
                <a:solidFill>
                  <a:srgbClr val="FFFFFF"/>
                </a:solidFill>
                <a:latin typeface="Calibri"/>
                <a:ea typeface="Calibri"/>
              </a:rPr>
              <a:t>An account scoring LOW risk on any single layer</a:t>
            </a:r>
          </a:p>
          <a:p>
            <a:r>
              <a:rPr lang="en-US" sz="1500" b="0">
                <a:solidFill>
                  <a:srgbClr val="FFFFFF"/>
                </a:solidFill>
                <a:latin typeface="Calibri"/>
                <a:ea typeface="Calibri"/>
              </a:rPr>
              <a:t>but appearing in ALL THREE layers simultaneously</a:t>
            </a:r>
          </a:p>
          <a:p>
            <a:r>
              <a:rPr lang="en-US" sz="1500" b="0">
                <a:solidFill>
                  <a:srgbClr val="FFFFFF"/>
                </a:solidFill>
                <a:latin typeface="Calibri"/>
                <a:ea typeface="Calibri"/>
              </a:rPr>
              <a:t>= HIGHEST PRIORITY ALERT</a:t>
            </a:r>
          </a:p>
          <a:p>
            <a:endParaRPr lang="en-US" sz="1500" b="0">
              <a:solidFill>
                <a:srgbClr val="FFFFFF"/>
              </a:solidFill>
              <a:latin typeface="Calibri"/>
              <a:ea typeface="Calibri"/>
            </a:endParaRPr>
          </a:p>
          <a:p>
            <a:r>
              <a:rPr lang="en-US" sz="1500" b="0">
                <a:solidFill>
                  <a:srgbClr val="FFFFFF"/>
                </a:solidFill>
                <a:latin typeface="Calibri"/>
                <a:ea typeface="Calibri"/>
              </a:rPr>
              <a:t>Risk Score  =  w1 x Identity_Risk  +  w2 x Transaction_Risk  +  w3 x Device_Risk</a:t>
            </a:r>
          </a:p>
          <a:p>
            <a:r>
              <a:rPr lang="en-US" sz="1500" b="0">
                <a:solidFill>
                  <a:srgbClr val="FFFFFF"/>
                </a:solidFill>
                <a:latin typeface="Calibri"/>
                <a:ea typeface="Calibri"/>
              </a:rPr>
              <a:t>              +  BONUS if entity bridges 2 or more graph layers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58" name="TopAccent"/>
          <p:cNvSpPr txBox="1"/>
          <p:nvPr/>
        </p:nvSpPr>
        <p:spPr>
          <a:xfrm>
            <a:off x="0" y="0"/>
            <a:ext cx="12193200" cy="180000"/>
          </a:xfrm>
          <a:prstGeom prst="rect">
            <a:avLst/>
          </a:prstGeom>
          <a:solidFill>
            <a:srgbClr val="FF4444"/>
          </a:solidFill>
        </p:spPr>
        <p:txBody>
          <a:bodyPr/>
          <a:lstStyle/>
          <a:p>
            <a:endParaRPr lang="en-US" sz="1000">
              <a:solidFill>
                <a:srgbClr val="FF4444"/>
              </a:solidFill>
            </a:endParaRPr>
          </a:p>
        </p:txBody>
      </p:sp>
      <p:sp>
        <p:nvSpPr>
          <p:cNvPr id="100059" name="SlideNum"/>
          <p:cNvSpPr txBox="1"/>
          <p:nvPr/>
        </p:nvSpPr>
        <p:spPr>
          <a:xfrm>
            <a:off x="540000" y="288000"/>
            <a:ext cx="9000000" cy="288000"/>
          </a:xfrm>
          <a:prstGeom prst="rect">
            <a:avLst/>
          </a:prstGeom>
        </p:spPr>
        <p:txBody>
          <a:bodyPr/>
          <a:lstStyle/>
          <a:p>
            <a:r>
              <a:rPr lang="en-US" sz="1200" b="1">
                <a:solidFill>
                  <a:srgbClr val="FF4444"/>
                </a:solidFill>
                <a:latin typeface="Calibri"/>
                <a:ea typeface="Calibri"/>
              </a:rPr>
              <a:t>08  REAL-WORLD CASE WALKTHROUGH</a:t>
            </a:r>
          </a:p>
        </p:txBody>
      </p:sp>
      <p:sp>
        <p:nvSpPr>
          <p:cNvPr id="100060"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Case Study: Detecting a</a:t>
            </a:r>
          </a:p>
          <a:p>
            <a:r>
              <a:rPr lang="en-US" sz="3400" b="1">
                <a:solidFill>
                  <a:srgbClr val="FFFFFF"/>
                </a:solidFill>
                <a:latin typeface="Calibri"/>
                <a:ea typeface="Calibri"/>
              </a:rPr>
              <a:t>200-Account Mule Ring End-to-End</a:t>
            </a:r>
          </a:p>
        </p:txBody>
      </p:sp>
      <p:sp>
        <p:nvSpPr>
          <p:cNvPr id="100061" name="Step1"/>
          <p:cNvSpPr txBox="1"/>
          <p:nvPr/>
        </p:nvSpPr>
        <p:spPr>
          <a:xfrm>
            <a:off x="360000" y="1908000"/>
            <a:ext cx="2088000" cy="2340000"/>
          </a:xfrm>
          <a:prstGeom prst="rect">
            <a:avLst/>
          </a:prstGeom>
          <a:solidFill>
            <a:srgbClr val="100020"/>
          </a:solidFill>
        </p:spPr>
        <p:txBody>
          <a:bodyPr/>
          <a:lstStyle/>
          <a:p>
            <a:r>
              <a:rPr lang="en-US" sz="1300" b="0">
                <a:solidFill>
                  <a:srgbClr val="DDDDDD"/>
                </a:solidFill>
                <a:latin typeface="Calibri"/>
                <a:ea typeface="Calibri"/>
              </a:rPr>
              <a:t>STEP 1</a:t>
            </a:r>
          </a:p>
          <a:p>
            <a:r>
              <a:rPr lang="en-US" sz="1300" b="0">
                <a:solidFill>
                  <a:srgbClr val="DDDDDD"/>
                </a:solidFill>
                <a:latin typeface="Calibri"/>
                <a:ea typeface="Calibri"/>
              </a:rPr>
              <a:t>Identity Graph</a:t>
            </a:r>
          </a:p>
          <a:p>
            <a:r>
              <a:rPr lang="en-US" sz="1300" b="0">
                <a:solidFill>
                  <a:srgbClr val="DDDDDD"/>
                </a:solidFill>
                <a:latin typeface="Calibri"/>
                <a:ea typeface="Calibri"/>
              </a:rPr>
              <a:t>Triggered</a:t>
            </a:r>
          </a:p>
          <a:p>
            <a:endParaRPr lang="en-US" sz="1300" b="0">
              <a:solidFill>
                <a:srgbClr val="DDDDDD"/>
              </a:solidFill>
              <a:latin typeface="Calibri"/>
              <a:ea typeface="Calibri"/>
            </a:endParaRPr>
          </a:p>
          <a:p>
            <a:r>
              <a:rPr lang="en-US" sz="1300" b="0">
                <a:solidFill>
                  <a:srgbClr val="DDDDDD"/>
                </a:solidFill>
                <a:latin typeface="Calibri"/>
                <a:ea typeface="Calibri"/>
              </a:rPr>
              <a:t>38 accounts share</a:t>
            </a:r>
          </a:p>
          <a:p>
            <a:r>
              <a:rPr lang="en-US" sz="1300" b="0">
                <a:solidFill>
                  <a:srgbClr val="DDDDDD"/>
                </a:solidFill>
                <a:latin typeface="Calibri"/>
                <a:ea typeface="Calibri"/>
              </a:rPr>
              <a:t>4 Aadhaar numbers.</a:t>
            </a:r>
          </a:p>
          <a:p>
            <a:r>
              <a:rPr lang="en-US" sz="1300" b="0">
                <a:solidFill>
                  <a:srgbClr val="DDDDDD"/>
                </a:solidFill>
                <a:latin typeface="Calibri"/>
                <a:ea typeface="Calibri"/>
              </a:rPr>
              <a:t>Identity ring detected.</a:t>
            </a:r>
          </a:p>
          <a:p>
            <a:r>
              <a:rPr lang="en-US" sz="1300" b="0">
                <a:solidFill>
                  <a:srgbClr val="DDDDDD"/>
                </a:solidFill>
                <a:latin typeface="Calibri"/>
                <a:ea typeface="Calibri"/>
              </a:rPr>
              <a:t>All 38 flagged.</a:t>
            </a:r>
          </a:p>
        </p:txBody>
      </p:sp>
      <p:sp>
        <p:nvSpPr>
          <p:cNvPr id="100062" name="Arr1"/>
          <p:cNvSpPr txBox="1"/>
          <p:nvPr/>
        </p:nvSpPr>
        <p:spPr>
          <a:xfrm>
            <a:off x="2592000" y="2880000"/>
            <a:ext cx="360000" cy="360000"/>
          </a:xfrm>
          <a:prstGeom prst="rect">
            <a:avLst/>
          </a:prstGeom>
        </p:spPr>
        <p:txBody>
          <a:bodyPr/>
          <a:lstStyle/>
          <a:p>
            <a:r>
              <a:rPr lang="en-US" sz="1800" b="1">
                <a:solidFill>
                  <a:srgbClr val="FF9500"/>
                </a:solidFill>
                <a:latin typeface="Calibri"/>
                <a:ea typeface="Calibri"/>
              </a:rPr>
              <a:t>-&gt;</a:t>
            </a:r>
          </a:p>
        </p:txBody>
      </p:sp>
      <p:sp>
        <p:nvSpPr>
          <p:cNvPr id="100063" name="Step2"/>
          <p:cNvSpPr txBox="1"/>
          <p:nvPr/>
        </p:nvSpPr>
        <p:spPr>
          <a:xfrm>
            <a:off x="3060000" y="1908000"/>
            <a:ext cx="2088000" cy="2340000"/>
          </a:xfrm>
          <a:prstGeom prst="rect">
            <a:avLst/>
          </a:prstGeom>
          <a:solidFill>
            <a:srgbClr val="00091A"/>
          </a:solidFill>
        </p:spPr>
        <p:txBody>
          <a:bodyPr/>
          <a:lstStyle/>
          <a:p>
            <a:r>
              <a:rPr lang="en-US" sz="1300" b="0">
                <a:solidFill>
                  <a:srgbClr val="DDDDDD"/>
                </a:solidFill>
                <a:latin typeface="Calibri"/>
                <a:ea typeface="Calibri"/>
              </a:rPr>
              <a:t>STEP 2</a:t>
            </a:r>
          </a:p>
          <a:p>
            <a:r>
              <a:rPr lang="en-US" sz="1300" b="0">
                <a:solidFill>
                  <a:srgbClr val="DDDDDD"/>
                </a:solidFill>
                <a:latin typeface="Calibri"/>
                <a:ea typeface="Calibri"/>
              </a:rPr>
              <a:t>Transaction Graph</a:t>
            </a:r>
          </a:p>
          <a:p>
            <a:r>
              <a:rPr lang="en-US" sz="1300" b="0">
                <a:solidFill>
                  <a:srgbClr val="DDDDDD"/>
                </a:solidFill>
                <a:latin typeface="Calibri"/>
                <a:ea typeface="Calibri"/>
              </a:rPr>
              <a:t>Expands Ring</a:t>
            </a:r>
          </a:p>
          <a:p>
            <a:endParaRPr lang="en-US" sz="1300" b="0">
              <a:solidFill>
                <a:srgbClr val="DDDDDD"/>
              </a:solidFill>
              <a:latin typeface="Calibri"/>
              <a:ea typeface="Calibri"/>
            </a:endParaRPr>
          </a:p>
          <a:p>
            <a:r>
              <a:rPr lang="en-US" sz="1300" b="0">
                <a:solidFill>
                  <a:srgbClr val="DDDDDD"/>
                </a:solidFill>
                <a:latin typeface="Calibri"/>
                <a:ea typeface="Calibri"/>
              </a:rPr>
              <a:t>PageRank finds</a:t>
            </a:r>
          </a:p>
          <a:p>
            <a:r>
              <a:rPr lang="en-US" sz="1300" b="0">
                <a:solidFill>
                  <a:srgbClr val="DDDDDD"/>
                </a:solidFill>
                <a:latin typeface="Calibri"/>
                <a:ea typeface="Calibri"/>
              </a:rPr>
              <a:t>2 hub accounts.</a:t>
            </a:r>
          </a:p>
          <a:p>
            <a:r>
              <a:rPr lang="en-US" sz="1300" b="0">
                <a:solidFill>
                  <a:srgbClr val="DDDDDD"/>
                </a:solidFill>
                <a:latin typeface="Calibri"/>
                <a:ea typeface="Calibri"/>
              </a:rPr>
              <a:t>Betweenness finds</a:t>
            </a:r>
          </a:p>
          <a:p>
            <a:r>
              <a:rPr lang="en-US" sz="1300" b="0">
                <a:solidFill>
                  <a:srgbClr val="DDDDDD"/>
                </a:solidFill>
                <a:latin typeface="Calibri"/>
                <a:ea typeface="Calibri"/>
              </a:rPr>
              <a:t>5 coordinator nodes.</a:t>
            </a:r>
          </a:p>
          <a:p>
            <a:r>
              <a:rPr lang="en-US" sz="1300" b="0">
                <a:solidFill>
                  <a:srgbClr val="DDDDDD"/>
                </a:solidFill>
                <a:latin typeface="Calibri"/>
                <a:ea typeface="Calibri"/>
              </a:rPr>
              <a:t>Ring grows: 38 -&gt; 94</a:t>
            </a:r>
          </a:p>
          <a:p>
            <a:r>
              <a:rPr lang="en-US" sz="1300" b="0">
                <a:solidFill>
                  <a:srgbClr val="DDDDDD"/>
                </a:solidFill>
                <a:latin typeface="Calibri"/>
                <a:ea typeface="Calibri"/>
              </a:rPr>
              <a:t>accounts flagged.</a:t>
            </a:r>
          </a:p>
        </p:txBody>
      </p:sp>
      <p:sp>
        <p:nvSpPr>
          <p:cNvPr id="100064" name="Arr2"/>
          <p:cNvSpPr txBox="1"/>
          <p:nvPr/>
        </p:nvSpPr>
        <p:spPr>
          <a:xfrm>
            <a:off x="5292000" y="2880000"/>
            <a:ext cx="360000" cy="360000"/>
          </a:xfrm>
          <a:prstGeom prst="rect">
            <a:avLst/>
          </a:prstGeom>
        </p:spPr>
        <p:txBody>
          <a:bodyPr/>
          <a:lstStyle/>
          <a:p>
            <a:r>
              <a:rPr lang="en-US" sz="1800" b="1">
                <a:solidFill>
                  <a:srgbClr val="FF9500"/>
                </a:solidFill>
                <a:latin typeface="Calibri"/>
                <a:ea typeface="Calibri"/>
              </a:rPr>
              <a:t>-&gt;</a:t>
            </a:r>
          </a:p>
        </p:txBody>
      </p:sp>
      <p:sp>
        <p:nvSpPr>
          <p:cNvPr id="100065" name="Step3"/>
          <p:cNvSpPr txBox="1"/>
          <p:nvPr/>
        </p:nvSpPr>
        <p:spPr>
          <a:xfrm>
            <a:off x="5760000" y="1908000"/>
            <a:ext cx="2088000" cy="2340000"/>
          </a:xfrm>
          <a:prstGeom prst="rect">
            <a:avLst/>
          </a:prstGeom>
          <a:solidFill>
            <a:srgbClr val="001A0E"/>
          </a:solidFill>
        </p:spPr>
        <p:txBody>
          <a:bodyPr/>
          <a:lstStyle/>
          <a:p>
            <a:r>
              <a:rPr lang="en-US" sz="1300" b="0">
                <a:solidFill>
                  <a:srgbClr val="DDDDDD"/>
                </a:solidFill>
                <a:latin typeface="Calibri"/>
                <a:ea typeface="Calibri"/>
              </a:rPr>
              <a:t>STEP 3</a:t>
            </a:r>
          </a:p>
          <a:p>
            <a:r>
              <a:rPr lang="en-US" sz="1300" b="0">
                <a:solidFill>
                  <a:srgbClr val="DDDDDD"/>
                </a:solidFill>
                <a:latin typeface="Calibri"/>
                <a:ea typeface="Calibri"/>
              </a:rPr>
              <a:t>Device Graph</a:t>
            </a:r>
          </a:p>
          <a:p>
            <a:r>
              <a:rPr lang="en-US" sz="1300" b="0">
                <a:solidFill>
                  <a:srgbClr val="DDDDDD"/>
                </a:solidFill>
                <a:latin typeface="Calibri"/>
                <a:ea typeface="Calibri"/>
              </a:rPr>
              <a:t>Confirms Control</a:t>
            </a:r>
          </a:p>
          <a:p>
            <a:endParaRPr lang="en-US" sz="1300" b="0">
              <a:solidFill>
                <a:srgbClr val="DDDDDD"/>
              </a:solidFill>
              <a:latin typeface="Calibri"/>
              <a:ea typeface="Calibri"/>
            </a:endParaRPr>
          </a:p>
          <a:p>
            <a:r>
              <a:rPr lang="en-US" sz="1300" b="0">
                <a:solidFill>
                  <a:srgbClr val="DDDDDD"/>
                </a:solidFill>
                <a:latin typeface="Calibri"/>
                <a:ea typeface="Calibri"/>
              </a:rPr>
              <a:t>1 device managed</a:t>
            </a:r>
          </a:p>
          <a:p>
            <a:r>
              <a:rPr lang="en-US" sz="1300" b="0">
                <a:solidFill>
                  <a:srgbClr val="DDDDDD"/>
                </a:solidFill>
                <a:latin typeface="Calibri"/>
                <a:ea typeface="Calibri"/>
              </a:rPr>
              <a:t>logins to 47 accounts.</a:t>
            </a:r>
          </a:p>
          <a:p>
            <a:r>
              <a:rPr lang="en-US" sz="1300" b="0">
                <a:solidFill>
                  <a:srgbClr val="DDDDDD"/>
                </a:solidFill>
                <a:latin typeface="Calibri"/>
                <a:ea typeface="Calibri"/>
              </a:rPr>
              <a:t>Same IP at same</a:t>
            </a:r>
          </a:p>
          <a:p>
            <a:r>
              <a:rPr lang="en-US" sz="1300" b="0">
                <a:solidFill>
                  <a:srgbClr val="DDDDDD"/>
                </a:solidFill>
                <a:latin typeface="Calibri"/>
                <a:ea typeface="Calibri"/>
              </a:rPr>
              <a:t>times. Bot-managed</a:t>
            </a:r>
          </a:p>
          <a:p>
            <a:r>
              <a:rPr lang="en-US" sz="1300" b="0">
                <a:solidFill>
                  <a:srgbClr val="DDDDDD"/>
                </a:solidFill>
                <a:latin typeface="Calibri"/>
                <a:ea typeface="Calibri"/>
              </a:rPr>
              <a:t>mule farm confirmed.</a:t>
            </a:r>
          </a:p>
          <a:p>
            <a:r>
              <a:rPr lang="en-US" sz="1300" b="0">
                <a:solidFill>
                  <a:srgbClr val="DDDDDD"/>
                </a:solidFill>
                <a:latin typeface="Calibri"/>
                <a:ea typeface="Calibri"/>
              </a:rPr>
              <a:t>Ring: 94 -&gt; 200.</a:t>
            </a:r>
          </a:p>
        </p:txBody>
      </p:sp>
      <p:sp>
        <p:nvSpPr>
          <p:cNvPr id="100066" name="Arr3"/>
          <p:cNvSpPr txBox="1"/>
          <p:nvPr/>
        </p:nvSpPr>
        <p:spPr>
          <a:xfrm>
            <a:off x="7992000" y="2880000"/>
            <a:ext cx="360000" cy="360000"/>
          </a:xfrm>
          <a:prstGeom prst="rect">
            <a:avLst/>
          </a:prstGeom>
        </p:spPr>
        <p:txBody>
          <a:bodyPr/>
          <a:lstStyle/>
          <a:p>
            <a:r>
              <a:rPr lang="en-US" sz="1800" b="1">
                <a:solidFill>
                  <a:srgbClr val="FF9500"/>
                </a:solidFill>
                <a:latin typeface="Calibri"/>
                <a:ea typeface="Calibri"/>
              </a:rPr>
              <a:t>-&gt;</a:t>
            </a:r>
          </a:p>
        </p:txBody>
      </p:sp>
      <p:sp>
        <p:nvSpPr>
          <p:cNvPr id="100067" name="Step4"/>
          <p:cNvSpPr txBox="1"/>
          <p:nvPr/>
        </p:nvSpPr>
        <p:spPr>
          <a:xfrm>
            <a:off x="8460000" y="1908000"/>
            <a:ext cx="2088000" cy="2340000"/>
          </a:xfrm>
          <a:prstGeom prst="rect">
            <a:avLst/>
          </a:prstGeom>
          <a:solidFill>
            <a:srgbClr val="1A0A00"/>
          </a:solidFill>
        </p:spPr>
        <p:txBody>
          <a:bodyPr/>
          <a:lstStyle/>
          <a:p>
            <a:r>
              <a:rPr lang="en-US" sz="1300" b="0">
                <a:solidFill>
                  <a:srgbClr val="DDDDDD"/>
                </a:solidFill>
                <a:latin typeface="Calibri"/>
                <a:ea typeface="Calibri"/>
              </a:rPr>
              <a:t>STEP 4</a:t>
            </a:r>
          </a:p>
          <a:p>
            <a:r>
              <a:rPr lang="en-US" sz="1300" b="0">
                <a:solidFill>
                  <a:srgbClr val="DDDDDD"/>
                </a:solidFill>
                <a:latin typeface="Calibri"/>
                <a:ea typeface="Calibri"/>
              </a:rPr>
              <a:t>Investigation</a:t>
            </a:r>
          </a:p>
          <a:p>
            <a:r>
              <a:rPr lang="en-US" sz="1300" b="0">
                <a:solidFill>
                  <a:srgbClr val="DDDDDD"/>
                </a:solidFill>
                <a:latin typeface="Calibri"/>
                <a:ea typeface="Calibri"/>
              </a:rPr>
              <a:t>Package Generated</a:t>
            </a:r>
          </a:p>
          <a:p>
            <a:endParaRPr lang="en-US" sz="1300" b="0">
              <a:solidFill>
                <a:srgbClr val="DDDDDD"/>
              </a:solidFill>
              <a:latin typeface="Calibri"/>
              <a:ea typeface="Calibri"/>
            </a:endParaRPr>
          </a:p>
          <a:p>
            <a:r>
              <a:rPr lang="en-US" sz="1300" b="0">
                <a:solidFill>
                  <a:srgbClr val="DDDDDD"/>
                </a:solidFill>
                <a:latin typeface="Calibri"/>
                <a:ea typeface="Calibri"/>
              </a:rPr>
              <a:t>Kingpin identified</a:t>
            </a:r>
          </a:p>
          <a:p>
            <a:r>
              <a:rPr lang="en-US" sz="1300" b="0">
                <a:solidFill>
                  <a:srgbClr val="DDDDDD"/>
                </a:solidFill>
                <a:latin typeface="Calibri"/>
                <a:ea typeface="Calibri"/>
              </a:rPr>
              <a:t>(highest PageRank).</a:t>
            </a:r>
          </a:p>
          <a:p>
            <a:r>
              <a:rPr lang="en-US" sz="1300" b="0">
                <a:solidFill>
                  <a:srgbClr val="DDDDDD"/>
                </a:solidFill>
                <a:latin typeface="Calibri"/>
                <a:ea typeface="Calibri"/>
              </a:rPr>
              <a:t>14 coordinators.</a:t>
            </a:r>
          </a:p>
          <a:p>
            <a:r>
              <a:rPr lang="en-US" sz="1300" b="0">
                <a:solidFill>
                  <a:srgbClr val="DDDDDD"/>
                </a:solidFill>
                <a:latin typeface="Calibri"/>
                <a:ea typeface="Calibri"/>
              </a:rPr>
              <a:t>183 mules.</a:t>
            </a:r>
          </a:p>
          <a:p>
            <a:r>
              <a:rPr lang="en-US" sz="1300" b="0">
                <a:solidFill>
                  <a:srgbClr val="DDDDDD"/>
                </a:solidFill>
                <a:latin typeface="Calibri"/>
                <a:ea typeface="Calibri"/>
              </a:rPr>
              <a:t>Fund trail: 6-hop</a:t>
            </a:r>
          </a:p>
          <a:p>
            <a:r>
              <a:rPr lang="en-US" sz="1300" b="0">
                <a:solidFill>
                  <a:srgbClr val="DDDDDD"/>
                </a:solidFill>
                <a:latin typeface="Calibri"/>
                <a:ea typeface="Calibri"/>
              </a:rPr>
              <a:t>chain to 3 offshore</a:t>
            </a:r>
          </a:p>
          <a:p>
            <a:r>
              <a:rPr lang="en-US" sz="1300" b="0">
                <a:solidFill>
                  <a:srgbClr val="DDDDDD"/>
                </a:solidFill>
                <a:latin typeface="Calibri"/>
                <a:ea typeface="Calibri"/>
              </a:rPr>
              <a:t>accounts flagged.</a:t>
            </a:r>
          </a:p>
        </p:txBody>
      </p:sp>
      <p:sp>
        <p:nvSpPr>
          <p:cNvPr id="100068" name="Outcome"/>
          <p:cNvSpPr txBox="1"/>
          <p:nvPr/>
        </p:nvSpPr>
        <p:spPr>
          <a:xfrm>
            <a:off x="360000" y="4608000"/>
            <a:ext cx="11160000" cy="720000"/>
          </a:xfrm>
          <a:prstGeom prst="rect">
            <a:avLst/>
          </a:prstGeom>
          <a:solidFill>
            <a:srgbClr val="001A0E"/>
          </a:solidFill>
        </p:spPr>
        <p:txBody>
          <a:bodyPr/>
          <a:lstStyle/>
          <a:p>
            <a:r>
              <a:rPr lang="en-US" sz="1500" b="1">
                <a:solidFill>
                  <a:srgbClr val="00CC88"/>
                </a:solidFill>
                <a:latin typeface="Calibri"/>
                <a:ea typeface="Calibri"/>
              </a:rPr>
              <a:t>OUTCOME: 200 accounts frozen  |  3 shell company beneficiaries identified  |  Estimated fraud prevented: INR 4.2 Cr  |  Time from first graph signal to full ring map: 4 minutes</a:t>
            </a:r>
          </a:p>
        </p:txBody>
      </p:sp>
      <p:sp>
        <p:nvSpPr>
          <p:cNvPr id="100069" name="Contrast"/>
          <p:cNvSpPr txBox="1"/>
          <p:nvPr/>
        </p:nvSpPr>
        <p:spPr>
          <a:xfrm>
            <a:off x="360000" y="5580000"/>
            <a:ext cx="11160000" cy="720000"/>
          </a:xfrm>
          <a:prstGeom prst="rect">
            <a:avLst/>
          </a:prstGeom>
          <a:solidFill>
            <a:srgbClr val="1A0000"/>
          </a:solidFill>
        </p:spPr>
        <p:txBody>
          <a:bodyPr/>
          <a:lstStyle/>
          <a:p>
            <a:r>
              <a:rPr lang="en-US" sz="1500" b="0">
                <a:solidFill>
                  <a:srgbClr val="FF4444"/>
                </a:solidFill>
                <a:latin typeface="Calibri"/>
                <a:ea typeface="Calibri"/>
              </a:rPr>
              <a:t>Traditional monitoring: 0 alerts triggered across all 200 accounts. Every individual transaction was below threshold. The fraud was visible only in graph 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70" name="TopAccent"/>
          <p:cNvSpPr txBox="1"/>
          <p:nvPr/>
        </p:nvSpPr>
        <p:spPr>
          <a:xfrm>
            <a:off x="0" y="0"/>
            <a:ext cx="12193200" cy="180000"/>
          </a:xfrm>
          <a:prstGeom prst="rect">
            <a:avLst/>
          </a:prstGeom>
          <a:solidFill>
            <a:srgbClr val="1A6FFF"/>
          </a:solidFill>
        </p:spPr>
        <p:txBody>
          <a:bodyPr/>
          <a:lstStyle/>
          <a:p>
            <a:endParaRPr lang="en-US" sz="1000">
              <a:solidFill>
                <a:srgbClr val="1A6FFF"/>
              </a:solidFill>
            </a:endParaRPr>
          </a:p>
        </p:txBody>
      </p:sp>
      <p:sp>
        <p:nvSpPr>
          <p:cNvPr id="100071" name="SlideNum"/>
          <p:cNvSpPr txBox="1"/>
          <p:nvPr/>
        </p:nvSpPr>
        <p:spPr>
          <a:xfrm>
            <a:off x="540000" y="288000"/>
            <a:ext cx="9000000" cy="288000"/>
          </a:xfrm>
          <a:prstGeom prst="rect">
            <a:avLst/>
          </a:prstGeom>
        </p:spPr>
        <p:txBody>
          <a:bodyPr/>
          <a:lstStyle/>
          <a:p>
            <a:r>
              <a:rPr lang="en-US" sz="1200" b="1">
                <a:solidFill>
                  <a:srgbClr val="1A6FFF"/>
                </a:solidFill>
                <a:latin typeface="Calibri"/>
                <a:ea typeface="Calibri"/>
              </a:rPr>
              <a:t>09  GRAPH DATABASE TECHNOLOGY</a:t>
            </a:r>
          </a:p>
        </p:txBody>
      </p:sp>
      <p:sp>
        <p:nvSpPr>
          <p:cNvPr id="100072"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Technology Stack for</a:t>
            </a:r>
          </a:p>
          <a:p>
            <a:r>
              <a:rPr lang="en-US" sz="3400" b="1">
                <a:solidFill>
                  <a:srgbClr val="FFFFFF"/>
                </a:solidFill>
                <a:latin typeface="Calibri"/>
                <a:ea typeface="Calibri"/>
              </a:rPr>
              <a:t>Bank-Scale Fraud Graph Infrastructure</a:t>
            </a:r>
          </a:p>
        </p:txBody>
      </p:sp>
      <p:sp>
        <p:nvSpPr>
          <p:cNvPr id="100073" name="T1"/>
          <p:cNvSpPr txBox="1"/>
          <p:nvPr/>
        </p:nvSpPr>
        <p:spPr>
          <a:xfrm>
            <a:off x="360000" y="1872000"/>
            <a:ext cx="2700000" cy="3600000"/>
          </a:xfrm>
          <a:prstGeom prst="rect">
            <a:avLst/>
          </a:prstGeom>
          <a:solidFill>
            <a:srgbClr val="0A1530"/>
          </a:solidFill>
        </p:spPr>
        <p:txBody>
          <a:bodyPr/>
          <a:lstStyle/>
          <a:p>
            <a:r>
              <a:rPr lang="en-US" sz="1300" b="0">
                <a:solidFill>
                  <a:srgbClr val="DDDDDD"/>
                </a:solidFill>
                <a:latin typeface="Calibri"/>
                <a:ea typeface="Calibri"/>
              </a:rPr>
              <a:t>GRAPH DATABASE</a:t>
            </a:r>
          </a:p>
          <a:p>
            <a:r>
              <a:rPr lang="en-US" sz="1300" b="0">
                <a:solidFill>
                  <a:srgbClr val="DDDDDD"/>
                </a:solidFill>
                <a:latin typeface="Calibri"/>
                <a:ea typeface="Calibri"/>
              </a:rPr>
              <a:t>Neo4j / Amazon Neptune</a:t>
            </a:r>
          </a:p>
          <a:p>
            <a:r>
              <a:rPr lang="en-US" sz="1300" b="0">
                <a:solidFill>
                  <a:srgbClr val="DDDDDD"/>
                </a:solidFill>
                <a:latin typeface="Calibri"/>
                <a:ea typeface="Calibri"/>
              </a:rPr>
              <a:t>/ IBM Graph</a:t>
            </a:r>
          </a:p>
          <a:p>
            <a:endParaRPr lang="en-US" sz="1300" b="0">
              <a:solidFill>
                <a:srgbClr val="DDDDDD"/>
              </a:solidFill>
              <a:latin typeface="Calibri"/>
              <a:ea typeface="Calibri"/>
            </a:endParaRPr>
          </a:p>
          <a:p>
            <a:r>
              <a:rPr lang="en-US" sz="1300" b="0">
                <a:solidFill>
                  <a:srgbClr val="DDDDDD"/>
                </a:solidFill>
                <a:latin typeface="Calibri"/>
                <a:ea typeface="Calibri"/>
              </a:rPr>
              <a:t>Store billions of nodes</a:t>
            </a:r>
          </a:p>
          <a:p>
            <a:r>
              <a:rPr lang="en-US" sz="1300" b="0">
                <a:solidFill>
                  <a:srgbClr val="DDDDDD"/>
                </a:solidFill>
                <a:latin typeface="Calibri"/>
                <a:ea typeface="Calibri"/>
              </a:rPr>
              <a:t>and edges natively.</a:t>
            </a:r>
          </a:p>
          <a:p>
            <a:r>
              <a:rPr lang="en-US" sz="1300" b="0">
                <a:solidFill>
                  <a:srgbClr val="DDDDDD"/>
                </a:solidFill>
                <a:latin typeface="Calibri"/>
                <a:ea typeface="Calibri"/>
              </a:rPr>
              <a:t>Cypher / Gremlin query</a:t>
            </a:r>
          </a:p>
          <a:p>
            <a:r>
              <a:rPr lang="en-US" sz="1300" b="0">
                <a:solidFill>
                  <a:srgbClr val="DDDDDD"/>
                </a:solidFill>
                <a:latin typeface="Calibri"/>
                <a:ea typeface="Calibri"/>
              </a:rPr>
              <a:t>language for pattern</a:t>
            </a:r>
          </a:p>
          <a:p>
            <a:r>
              <a:rPr lang="en-US" sz="1300" b="0">
                <a:solidFill>
                  <a:srgbClr val="DDDDDD"/>
                </a:solidFill>
                <a:latin typeface="Calibri"/>
                <a:ea typeface="Calibri"/>
              </a:rPr>
              <a:t>matching across hops.</a:t>
            </a:r>
          </a:p>
          <a:p>
            <a:r>
              <a:rPr lang="en-US" sz="1300" b="0">
                <a:solidFill>
                  <a:srgbClr val="DDDDDD"/>
                </a:solidFill>
                <a:latin typeface="Calibri"/>
                <a:ea typeface="Calibri"/>
              </a:rPr>
              <a:t>10x faster than SQL</a:t>
            </a:r>
          </a:p>
          <a:p>
            <a:r>
              <a:rPr lang="en-US" sz="1300" b="0">
                <a:solidFill>
                  <a:srgbClr val="DDDDDD"/>
                </a:solidFill>
                <a:latin typeface="Calibri"/>
                <a:ea typeface="Calibri"/>
              </a:rPr>
              <a:t>JOINs at 4+ hops.</a:t>
            </a:r>
          </a:p>
        </p:txBody>
      </p:sp>
      <p:sp>
        <p:nvSpPr>
          <p:cNvPr id="100074" name="T2"/>
          <p:cNvSpPr txBox="1"/>
          <p:nvPr/>
        </p:nvSpPr>
        <p:spPr>
          <a:xfrm>
            <a:off x="3420000" y="1872000"/>
            <a:ext cx="2700000" cy="3600000"/>
          </a:xfrm>
          <a:prstGeom prst="rect">
            <a:avLst/>
          </a:prstGeom>
          <a:solidFill>
            <a:srgbClr val="0A1530"/>
          </a:solidFill>
        </p:spPr>
        <p:txBody>
          <a:bodyPr/>
          <a:lstStyle/>
          <a:p>
            <a:r>
              <a:rPr lang="en-US" sz="1300" b="0">
                <a:solidFill>
                  <a:srgbClr val="DDDDDD"/>
                </a:solidFill>
                <a:latin typeface="Calibri"/>
                <a:ea typeface="Calibri"/>
              </a:rPr>
              <a:t>STREAM PROCESSING</a:t>
            </a:r>
          </a:p>
          <a:p>
            <a:r>
              <a:rPr lang="en-US" sz="1300" b="0">
                <a:solidFill>
                  <a:srgbClr val="DDDDDD"/>
                </a:solidFill>
                <a:latin typeface="Calibri"/>
                <a:ea typeface="Calibri"/>
              </a:rPr>
              <a:t>Apache Kafka +</a:t>
            </a:r>
          </a:p>
          <a:p>
            <a:r>
              <a:rPr lang="en-US" sz="1300" b="0">
                <a:solidFill>
                  <a:srgbClr val="DDDDDD"/>
                </a:solidFill>
                <a:latin typeface="Calibri"/>
                <a:ea typeface="Calibri"/>
              </a:rPr>
              <a:t>Flink / Spark Streaming</a:t>
            </a:r>
          </a:p>
          <a:p>
            <a:endParaRPr lang="en-US" sz="1300" b="0">
              <a:solidFill>
                <a:srgbClr val="DDDDDD"/>
              </a:solidFill>
              <a:latin typeface="Calibri"/>
              <a:ea typeface="Calibri"/>
            </a:endParaRPr>
          </a:p>
          <a:p>
            <a:r>
              <a:rPr lang="en-US" sz="1300" b="0">
                <a:solidFill>
                  <a:srgbClr val="DDDDDD"/>
                </a:solidFill>
                <a:latin typeface="Calibri"/>
                <a:ea typeface="Calibri"/>
              </a:rPr>
              <a:t>Ingest real-time</a:t>
            </a:r>
          </a:p>
          <a:p>
            <a:r>
              <a:rPr lang="en-US" sz="1300" b="0">
                <a:solidFill>
                  <a:srgbClr val="DDDDDD"/>
                </a:solidFill>
                <a:latin typeface="Calibri"/>
                <a:ea typeface="Calibri"/>
              </a:rPr>
              <a:t>transactions. Update</a:t>
            </a:r>
          </a:p>
          <a:p>
            <a:r>
              <a:rPr lang="en-US" sz="1300" b="0">
                <a:solidFill>
                  <a:srgbClr val="DDDDDD"/>
                </a:solidFill>
                <a:latin typeface="Calibri"/>
                <a:ea typeface="Calibri"/>
              </a:rPr>
              <a:t>graph edges within</a:t>
            </a:r>
          </a:p>
          <a:p>
            <a:r>
              <a:rPr lang="en-US" sz="1300" b="0">
                <a:solidFill>
                  <a:srgbClr val="DDDDDD"/>
                </a:solidFill>
                <a:latin typeface="Calibri"/>
                <a:ea typeface="Calibri"/>
              </a:rPr>
              <a:t>milliseconds of event.</a:t>
            </a:r>
          </a:p>
          <a:p>
            <a:r>
              <a:rPr lang="en-US" sz="1300" b="0">
                <a:solidFill>
                  <a:srgbClr val="DDDDDD"/>
                </a:solidFill>
                <a:latin typeface="Calibri"/>
                <a:ea typeface="Calibri"/>
              </a:rPr>
              <a:t>Enable sub-second</a:t>
            </a:r>
          </a:p>
          <a:p>
            <a:r>
              <a:rPr lang="en-US" sz="1300" b="0">
                <a:solidFill>
                  <a:srgbClr val="DDDDDD"/>
                </a:solidFill>
                <a:latin typeface="Calibri"/>
                <a:ea typeface="Calibri"/>
              </a:rPr>
              <a:t>alert generation on</a:t>
            </a:r>
          </a:p>
          <a:p>
            <a:r>
              <a:rPr lang="en-US" sz="1300" b="0">
                <a:solidFill>
                  <a:srgbClr val="DDDDDD"/>
                </a:solidFill>
                <a:latin typeface="Calibri"/>
                <a:ea typeface="Calibri"/>
              </a:rPr>
              <a:t>live transaction stream.</a:t>
            </a:r>
          </a:p>
        </p:txBody>
      </p:sp>
      <p:sp>
        <p:nvSpPr>
          <p:cNvPr id="100075" name="T3"/>
          <p:cNvSpPr txBox="1"/>
          <p:nvPr/>
        </p:nvSpPr>
        <p:spPr>
          <a:xfrm>
            <a:off x="6480000" y="1872000"/>
            <a:ext cx="2700000" cy="3600000"/>
          </a:xfrm>
          <a:prstGeom prst="rect">
            <a:avLst/>
          </a:prstGeom>
          <a:solidFill>
            <a:srgbClr val="0A1530"/>
          </a:solidFill>
        </p:spPr>
        <p:txBody>
          <a:bodyPr/>
          <a:lstStyle/>
          <a:p>
            <a:r>
              <a:rPr lang="en-US" sz="1300" b="0">
                <a:solidFill>
                  <a:srgbClr val="DDDDDD"/>
                </a:solidFill>
                <a:latin typeface="Calibri"/>
                <a:ea typeface="Calibri"/>
              </a:rPr>
              <a:t>GRAPH ML</a:t>
            </a:r>
          </a:p>
          <a:p>
            <a:r>
              <a:rPr lang="en-US" sz="1300" b="0">
                <a:solidFill>
                  <a:srgbClr val="DDDDDD"/>
                </a:solidFill>
                <a:latin typeface="Calibri"/>
                <a:ea typeface="Calibri"/>
              </a:rPr>
              <a:t>Graph Neural Networks</a:t>
            </a:r>
          </a:p>
          <a:p>
            <a:r>
              <a:rPr lang="en-US" sz="1300" b="0">
                <a:solidFill>
                  <a:srgbClr val="DDDDDD"/>
                </a:solidFill>
                <a:latin typeface="Calibri"/>
                <a:ea typeface="Calibri"/>
              </a:rPr>
              <a:t>(GNN / GraphSAGE)</a:t>
            </a:r>
          </a:p>
          <a:p>
            <a:endParaRPr lang="en-US" sz="1300" b="0">
              <a:solidFill>
                <a:srgbClr val="DDDDDD"/>
              </a:solidFill>
              <a:latin typeface="Calibri"/>
              <a:ea typeface="Calibri"/>
            </a:endParaRPr>
          </a:p>
          <a:p>
            <a:r>
              <a:rPr lang="en-US" sz="1300" b="0">
                <a:solidFill>
                  <a:srgbClr val="DDDDDD"/>
                </a:solidFill>
                <a:latin typeface="Calibri"/>
                <a:ea typeface="Calibri"/>
              </a:rPr>
              <a:t>Learn fraud patterns</a:t>
            </a:r>
          </a:p>
          <a:p>
            <a:r>
              <a:rPr lang="en-US" sz="1300" b="0">
                <a:solidFill>
                  <a:srgbClr val="DDDDDD"/>
                </a:solidFill>
                <a:latin typeface="Calibri"/>
                <a:ea typeface="Calibri"/>
              </a:rPr>
              <a:t>from graph topology.</a:t>
            </a:r>
          </a:p>
          <a:p>
            <a:r>
              <a:rPr lang="en-US" sz="1300" b="0">
                <a:solidFill>
                  <a:srgbClr val="DDDDDD"/>
                </a:solidFill>
                <a:latin typeface="Calibri"/>
                <a:ea typeface="Calibri"/>
              </a:rPr>
              <a:t>Not just node features</a:t>
            </a:r>
          </a:p>
          <a:p>
            <a:r>
              <a:rPr lang="en-US" sz="1300" b="0">
                <a:solidFill>
                  <a:srgbClr val="DDDDDD"/>
                </a:solidFill>
                <a:latin typeface="Calibri"/>
                <a:ea typeface="Calibri"/>
              </a:rPr>
              <a:t>but neighbourhood</a:t>
            </a:r>
          </a:p>
          <a:p>
            <a:r>
              <a:rPr lang="en-US" sz="1300" b="0">
                <a:solidFill>
                  <a:srgbClr val="DDDDDD"/>
                </a:solidFill>
                <a:latin typeface="Calibri"/>
                <a:ea typeface="Calibri"/>
              </a:rPr>
              <a:t>structure. Propagate</a:t>
            </a:r>
          </a:p>
          <a:p>
            <a:r>
              <a:rPr lang="en-US" sz="1300" b="0">
                <a:solidFill>
                  <a:srgbClr val="DDDDDD"/>
                </a:solidFill>
                <a:latin typeface="Calibri"/>
                <a:ea typeface="Calibri"/>
              </a:rPr>
              <a:t>suspicion scores</a:t>
            </a:r>
          </a:p>
          <a:p>
            <a:r>
              <a:rPr lang="en-US" sz="1300" b="0">
                <a:solidFill>
                  <a:srgbClr val="DDDDDD"/>
                </a:solidFill>
                <a:latin typeface="Calibri"/>
                <a:ea typeface="Calibri"/>
              </a:rPr>
              <a:t>across edges.</a:t>
            </a:r>
          </a:p>
        </p:txBody>
      </p:sp>
      <p:sp>
        <p:nvSpPr>
          <p:cNvPr id="100076" name="T4"/>
          <p:cNvSpPr txBox="1"/>
          <p:nvPr/>
        </p:nvSpPr>
        <p:spPr>
          <a:xfrm>
            <a:off x="9540000" y="1872000"/>
            <a:ext cx="2340000" cy="3600000"/>
          </a:xfrm>
          <a:prstGeom prst="rect">
            <a:avLst/>
          </a:prstGeom>
          <a:solidFill>
            <a:srgbClr val="0A1530"/>
          </a:solidFill>
        </p:spPr>
        <p:txBody>
          <a:bodyPr/>
          <a:lstStyle/>
          <a:p>
            <a:r>
              <a:rPr lang="en-US" sz="1300" b="0">
                <a:solidFill>
                  <a:srgbClr val="DDDDDD"/>
                </a:solidFill>
                <a:latin typeface="Calibri"/>
                <a:ea typeface="Calibri"/>
              </a:rPr>
              <a:t>VISUALISATION</a:t>
            </a:r>
          </a:p>
          <a:p>
            <a:r>
              <a:rPr lang="en-US" sz="1300" b="0">
                <a:solidFill>
                  <a:srgbClr val="DDDDDD"/>
                </a:solidFill>
                <a:latin typeface="Calibri"/>
                <a:ea typeface="Calibri"/>
              </a:rPr>
              <a:t>Neo4j Bloom /</a:t>
            </a:r>
          </a:p>
          <a:p>
            <a:r>
              <a:rPr lang="en-US" sz="1300" b="0">
                <a:solidFill>
                  <a:srgbClr val="DDDDDD"/>
                </a:solidFill>
                <a:latin typeface="Calibri"/>
                <a:ea typeface="Calibri"/>
              </a:rPr>
              <a:t>Graphistry / D3.js</a:t>
            </a:r>
          </a:p>
          <a:p>
            <a:endParaRPr lang="en-US" sz="1300" b="0">
              <a:solidFill>
                <a:srgbClr val="DDDDDD"/>
              </a:solidFill>
              <a:latin typeface="Calibri"/>
              <a:ea typeface="Calibri"/>
            </a:endParaRPr>
          </a:p>
          <a:p>
            <a:r>
              <a:rPr lang="en-US" sz="1300" b="0">
                <a:solidFill>
                  <a:srgbClr val="DDDDDD"/>
                </a:solidFill>
                <a:latin typeface="Calibri"/>
                <a:ea typeface="Calibri"/>
              </a:rPr>
              <a:t>Interactive graph</a:t>
            </a:r>
          </a:p>
          <a:p>
            <a:r>
              <a:rPr lang="en-US" sz="1300" b="0">
                <a:solidFill>
                  <a:srgbClr val="DDDDDD"/>
                </a:solidFill>
                <a:latin typeface="Calibri"/>
                <a:ea typeface="Calibri"/>
              </a:rPr>
              <a:t>explorer for analysts.</a:t>
            </a:r>
          </a:p>
          <a:p>
            <a:r>
              <a:rPr lang="en-US" sz="1300" b="0">
                <a:solidFill>
                  <a:srgbClr val="DDDDDD"/>
                </a:solidFill>
                <a:latin typeface="Calibri"/>
                <a:ea typeface="Calibri"/>
              </a:rPr>
              <a:t>Expand suspicious</a:t>
            </a:r>
          </a:p>
          <a:p>
            <a:r>
              <a:rPr lang="en-US" sz="1300" b="0">
                <a:solidFill>
                  <a:srgbClr val="DDDDDD"/>
                </a:solidFill>
                <a:latin typeface="Calibri"/>
                <a:ea typeface="Calibri"/>
              </a:rPr>
              <a:t>node neighbours.</a:t>
            </a:r>
          </a:p>
          <a:p>
            <a:r>
              <a:rPr lang="en-US" sz="1300" b="0">
                <a:solidFill>
                  <a:srgbClr val="DDDDDD"/>
                </a:solidFill>
                <a:latin typeface="Calibri"/>
                <a:ea typeface="Calibri"/>
              </a:rPr>
              <a:t>Trace full money path</a:t>
            </a:r>
          </a:p>
          <a:p>
            <a:r>
              <a:rPr lang="en-US" sz="1300" b="0">
                <a:solidFill>
                  <a:srgbClr val="DDDDDD"/>
                </a:solidFill>
                <a:latin typeface="Calibri"/>
                <a:ea typeface="Calibri"/>
              </a:rPr>
              <a:t>from victim to</a:t>
            </a:r>
          </a:p>
          <a:p>
            <a:r>
              <a:rPr lang="en-US" sz="1300" b="0">
                <a:solidFill>
                  <a:srgbClr val="DDDDDD"/>
                </a:solidFill>
                <a:latin typeface="Calibri"/>
                <a:ea typeface="Calibri"/>
              </a:rPr>
              <a:t>cash-out visually.</a:t>
            </a:r>
          </a:p>
        </p:txBody>
      </p:sp>
      <p:sp>
        <p:nvSpPr>
          <p:cNvPr id="100077" name="Query"/>
          <p:cNvSpPr txBox="1"/>
          <p:nvPr/>
        </p:nvSpPr>
        <p:spPr>
          <a:xfrm>
            <a:off x="360000" y="5760000"/>
            <a:ext cx="11160000" cy="900000"/>
          </a:xfrm>
          <a:prstGeom prst="rect">
            <a:avLst/>
          </a:prstGeom>
          <a:solidFill>
            <a:srgbClr val="001A0E"/>
          </a:solidFill>
        </p:spPr>
        <p:txBody>
          <a:bodyPr/>
          <a:lstStyle/>
          <a:p>
            <a:r>
              <a:rPr lang="en-US" sz="1400" b="0">
                <a:solidFill>
                  <a:srgbClr val="00CC88"/>
                </a:solidFill>
                <a:latin typeface="Courier New"/>
                <a:ea typeface="Courier New"/>
              </a:rPr>
              <a:t>Example Cypher query — find all accounts reachable from a flagged account within 3 hops:</a:t>
            </a:r>
          </a:p>
          <a:p>
            <a:r>
              <a:rPr lang="en-US" sz="1400" b="0">
                <a:solidFill>
                  <a:srgbClr val="00CC88"/>
                </a:solidFill>
                <a:latin typeface="Courier New"/>
                <a:ea typeface="Courier New"/>
              </a:rPr>
              <a:t>MATCH path = (a:Account {flagged:true})-[:TRANSACTS_WITH*1..3]-&gt;(b:Account)</a:t>
            </a:r>
          </a:p>
          <a:p>
            <a:r>
              <a:rPr lang="en-US" sz="1400" b="0">
                <a:solidFill>
                  <a:srgbClr val="00CC88"/>
                </a:solidFill>
                <a:latin typeface="Courier New"/>
                <a:ea typeface="Courier New"/>
              </a:rPr>
              <a:t>WHERE b.risk_score &gt; 0.7  RETURN path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78" name="TopAccent"/>
          <p:cNvSpPr txBox="1"/>
          <p:nvPr/>
        </p:nvSpPr>
        <p:spPr>
          <a:xfrm>
            <a:off x="0" y="0"/>
            <a:ext cx="12193200" cy="180000"/>
          </a:xfrm>
          <a:prstGeom prst="rect">
            <a:avLst/>
          </a:prstGeom>
          <a:solidFill>
            <a:srgbClr val="00CC88"/>
          </a:solidFill>
        </p:spPr>
        <p:txBody>
          <a:bodyPr/>
          <a:lstStyle/>
          <a:p>
            <a:endParaRPr lang="en-US" sz="1000">
              <a:solidFill>
                <a:srgbClr val="00CC88"/>
              </a:solidFill>
            </a:endParaRPr>
          </a:p>
        </p:txBody>
      </p:sp>
      <p:sp>
        <p:nvSpPr>
          <p:cNvPr id="100079" name="SlideNum"/>
          <p:cNvSpPr txBox="1"/>
          <p:nvPr/>
        </p:nvSpPr>
        <p:spPr>
          <a:xfrm>
            <a:off x="540000" y="288000"/>
            <a:ext cx="9000000" cy="288000"/>
          </a:xfrm>
          <a:prstGeom prst="rect">
            <a:avLst/>
          </a:prstGeom>
        </p:spPr>
        <p:txBody>
          <a:bodyPr/>
          <a:lstStyle/>
          <a:p>
            <a:r>
              <a:rPr lang="en-US" sz="1200" b="1">
                <a:solidFill>
                  <a:srgbClr val="00CC88"/>
                </a:solidFill>
                <a:latin typeface="Calibri"/>
                <a:ea typeface="Calibri"/>
              </a:rPr>
              <a:t>10  IMPLEMENTATION ROADMAP</a:t>
            </a:r>
          </a:p>
        </p:txBody>
      </p:sp>
      <p:sp>
        <p:nvSpPr>
          <p:cNvPr id="100080"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From Zero to Graph-First</a:t>
            </a:r>
          </a:p>
          <a:p>
            <a:r>
              <a:rPr lang="en-US" sz="3400" b="1">
                <a:solidFill>
                  <a:srgbClr val="FFFFFF"/>
                </a:solidFill>
                <a:latin typeface="Calibri"/>
                <a:ea typeface="Calibri"/>
              </a:rPr>
              <a:t>Fraud Detection in 4 Phases</a:t>
            </a:r>
          </a:p>
        </p:txBody>
      </p:sp>
      <p:sp>
        <p:nvSpPr>
          <p:cNvPr id="100081" name="Ph1"/>
          <p:cNvSpPr txBox="1"/>
          <p:nvPr/>
        </p:nvSpPr>
        <p:spPr>
          <a:xfrm>
            <a:off x="360000" y="1872000"/>
            <a:ext cx="2700000" cy="3960000"/>
          </a:xfrm>
          <a:prstGeom prst="rect">
            <a:avLst/>
          </a:prstGeom>
          <a:solidFill>
            <a:srgbClr val="001A0E"/>
          </a:solidFill>
        </p:spPr>
        <p:txBody>
          <a:bodyPr/>
          <a:lstStyle/>
          <a:p>
            <a:r>
              <a:rPr lang="en-US" sz="1300" b="0">
                <a:solidFill>
                  <a:srgbClr val="DDDDDD"/>
                </a:solidFill>
                <a:latin typeface="Calibri"/>
                <a:ea typeface="Calibri"/>
              </a:rPr>
              <a:t>PHASE 1  (0-3 months)</a:t>
            </a:r>
          </a:p>
          <a:p>
            <a:r>
              <a:rPr lang="en-US" sz="1300" b="0">
                <a:solidFill>
                  <a:srgbClr val="DDDDDD"/>
                </a:solidFill>
                <a:latin typeface="Calibri"/>
                <a:ea typeface="Calibri"/>
              </a:rPr>
              <a:t>Foundation</a:t>
            </a:r>
          </a:p>
          <a:p>
            <a:endParaRPr lang="en-US" sz="1300" b="0">
              <a:solidFill>
                <a:srgbClr val="DDDDDD"/>
              </a:solidFill>
              <a:latin typeface="Calibri"/>
              <a:ea typeface="Calibri"/>
            </a:endParaRPr>
          </a:p>
          <a:p>
            <a:r>
              <a:rPr lang="en-US" sz="1300" b="0">
                <a:solidFill>
                  <a:srgbClr val="DDDDDD"/>
                </a:solidFill>
                <a:latin typeface="Calibri"/>
                <a:ea typeface="Calibri"/>
              </a:rPr>
              <a:t>  Build identity graph</a:t>
            </a:r>
          </a:p>
          <a:p>
            <a:r>
              <a:rPr lang="en-US" sz="1300" b="0">
                <a:solidFill>
                  <a:srgbClr val="DDDDDD"/>
                </a:solidFill>
                <a:latin typeface="Calibri"/>
                <a:ea typeface="Calibri"/>
              </a:rPr>
              <a:t>  from existing KYC data</a:t>
            </a:r>
          </a:p>
          <a:p>
            <a:endParaRPr lang="en-US" sz="1300" b="0">
              <a:solidFill>
                <a:srgbClr val="DDDDDD"/>
              </a:solidFill>
              <a:latin typeface="Calibri"/>
              <a:ea typeface="Calibri"/>
            </a:endParaRPr>
          </a:p>
          <a:p>
            <a:r>
              <a:rPr lang="en-US" sz="1300" b="0">
                <a:solidFill>
                  <a:srgbClr val="DDDDDD"/>
                </a:solidFill>
                <a:latin typeface="Calibri"/>
                <a:ea typeface="Calibri"/>
              </a:rPr>
              <a:t>  Run retrospective</a:t>
            </a:r>
          </a:p>
          <a:p>
            <a:r>
              <a:rPr lang="en-US" sz="1300" b="0">
                <a:solidFill>
                  <a:srgbClr val="DDDDDD"/>
                </a:solidFill>
                <a:latin typeface="Calibri"/>
                <a:ea typeface="Calibri"/>
              </a:rPr>
              <a:t>  analysis on 2 years</a:t>
            </a:r>
          </a:p>
          <a:p>
            <a:r>
              <a:rPr lang="en-US" sz="1300" b="0">
                <a:solidFill>
                  <a:srgbClr val="DDDDDD"/>
                </a:solidFill>
                <a:latin typeface="Calibri"/>
                <a:ea typeface="Calibri"/>
              </a:rPr>
              <a:t>  of historical data</a:t>
            </a:r>
          </a:p>
          <a:p>
            <a:endParaRPr lang="en-US" sz="1300" b="0">
              <a:solidFill>
                <a:srgbClr val="DDDDDD"/>
              </a:solidFill>
              <a:latin typeface="Calibri"/>
              <a:ea typeface="Calibri"/>
            </a:endParaRPr>
          </a:p>
          <a:p>
            <a:r>
              <a:rPr lang="en-US" sz="1300" b="0">
                <a:solidFill>
                  <a:srgbClr val="DDDDDD"/>
                </a:solidFill>
                <a:latin typeface="Calibri"/>
                <a:ea typeface="Calibri"/>
              </a:rPr>
              <a:t>  Identify existing</a:t>
            </a:r>
          </a:p>
          <a:p>
            <a:r>
              <a:rPr lang="en-US" sz="1300" b="0">
                <a:solidFill>
                  <a:srgbClr val="DDDDDD"/>
                </a:solidFill>
                <a:latin typeface="Calibri"/>
                <a:ea typeface="Calibri"/>
              </a:rPr>
              <a:t>  fraud rings (most</a:t>
            </a:r>
          </a:p>
          <a:p>
            <a:r>
              <a:rPr lang="en-US" sz="1300" b="0">
                <a:solidFill>
                  <a:srgbClr val="DDDDDD"/>
                </a:solidFill>
                <a:latin typeface="Calibri"/>
                <a:ea typeface="Calibri"/>
              </a:rPr>
              <a:t>  banks find 3-5x more</a:t>
            </a:r>
          </a:p>
          <a:p>
            <a:r>
              <a:rPr lang="en-US" sz="1300" b="0">
                <a:solidFill>
                  <a:srgbClr val="DDDDDD"/>
                </a:solidFill>
                <a:latin typeface="Calibri"/>
                <a:ea typeface="Calibri"/>
              </a:rPr>
              <a:t>  fraud than known)</a:t>
            </a:r>
          </a:p>
        </p:txBody>
      </p:sp>
      <p:sp>
        <p:nvSpPr>
          <p:cNvPr id="100082" name="Ph2"/>
          <p:cNvSpPr txBox="1"/>
          <p:nvPr/>
        </p:nvSpPr>
        <p:spPr>
          <a:xfrm>
            <a:off x="3420000" y="1872000"/>
            <a:ext cx="2700000" cy="3960000"/>
          </a:xfrm>
          <a:prstGeom prst="rect">
            <a:avLst/>
          </a:prstGeom>
          <a:solidFill>
            <a:srgbClr val="001A0E"/>
          </a:solidFill>
        </p:spPr>
        <p:txBody>
          <a:bodyPr/>
          <a:lstStyle/>
          <a:p>
            <a:r>
              <a:rPr lang="en-US" sz="1300" b="0">
                <a:solidFill>
                  <a:srgbClr val="DDDDDD"/>
                </a:solidFill>
                <a:latin typeface="Calibri"/>
                <a:ea typeface="Calibri"/>
              </a:rPr>
              <a:t>PHASE 2  (3-6 months)</a:t>
            </a:r>
          </a:p>
          <a:p>
            <a:r>
              <a:rPr lang="en-US" sz="1300" b="0">
                <a:solidFill>
                  <a:srgbClr val="DDDDDD"/>
                </a:solidFill>
                <a:latin typeface="Calibri"/>
                <a:ea typeface="Calibri"/>
              </a:rPr>
              <a:t>Transaction Layer</a:t>
            </a:r>
          </a:p>
          <a:p>
            <a:endParaRPr lang="en-US" sz="1300" b="0">
              <a:solidFill>
                <a:srgbClr val="DDDDDD"/>
              </a:solidFill>
              <a:latin typeface="Calibri"/>
              <a:ea typeface="Calibri"/>
            </a:endParaRPr>
          </a:p>
          <a:p>
            <a:r>
              <a:rPr lang="en-US" sz="1300" b="0">
                <a:solidFill>
                  <a:srgbClr val="DDDDDD"/>
                </a:solidFill>
                <a:latin typeface="Calibri"/>
                <a:ea typeface="Calibri"/>
              </a:rPr>
              <a:t>  Add transaction</a:t>
            </a:r>
          </a:p>
          <a:p>
            <a:r>
              <a:rPr lang="en-US" sz="1300" b="0">
                <a:solidFill>
                  <a:srgbClr val="DDDDDD"/>
                </a:solidFill>
                <a:latin typeface="Calibri"/>
                <a:ea typeface="Calibri"/>
              </a:rPr>
              <a:t>  flow graph</a:t>
            </a:r>
          </a:p>
          <a:p>
            <a:endParaRPr lang="en-US" sz="1300" b="0">
              <a:solidFill>
                <a:srgbClr val="DDDDDD"/>
              </a:solidFill>
              <a:latin typeface="Calibri"/>
              <a:ea typeface="Calibri"/>
            </a:endParaRPr>
          </a:p>
          <a:p>
            <a:r>
              <a:rPr lang="en-US" sz="1300" b="0">
                <a:solidFill>
                  <a:srgbClr val="DDDDDD"/>
                </a:solidFill>
                <a:latin typeface="Calibri"/>
                <a:ea typeface="Calibri"/>
              </a:rPr>
              <a:t>  Deploy PageRank</a:t>
            </a:r>
          </a:p>
          <a:p>
            <a:r>
              <a:rPr lang="en-US" sz="1300" b="0">
                <a:solidFill>
                  <a:srgbClr val="DDDDDD"/>
                </a:solidFill>
                <a:latin typeface="Calibri"/>
                <a:ea typeface="Calibri"/>
              </a:rPr>
              <a:t>  and betweenness</a:t>
            </a:r>
          </a:p>
          <a:p>
            <a:r>
              <a:rPr lang="en-US" sz="1300" b="0">
                <a:solidFill>
                  <a:srgbClr val="DDDDDD"/>
                </a:solidFill>
                <a:latin typeface="Calibri"/>
                <a:ea typeface="Calibri"/>
              </a:rPr>
              <a:t>  centrality scoring</a:t>
            </a:r>
          </a:p>
          <a:p>
            <a:endParaRPr lang="en-US" sz="1300" b="0">
              <a:solidFill>
                <a:srgbClr val="DDDDDD"/>
              </a:solidFill>
              <a:latin typeface="Calibri"/>
              <a:ea typeface="Calibri"/>
            </a:endParaRPr>
          </a:p>
          <a:p>
            <a:r>
              <a:rPr lang="en-US" sz="1300" b="0">
                <a:solidFill>
                  <a:srgbClr val="DDDDDD"/>
                </a:solidFill>
                <a:latin typeface="Calibri"/>
                <a:ea typeface="Calibri"/>
              </a:rPr>
              <a:t>  Connect to existing</a:t>
            </a:r>
          </a:p>
          <a:p>
            <a:r>
              <a:rPr lang="en-US" sz="1300" b="0">
                <a:solidFill>
                  <a:srgbClr val="DDDDDD"/>
                </a:solidFill>
                <a:latin typeface="Calibri"/>
                <a:ea typeface="Calibri"/>
              </a:rPr>
              <a:t>  alert management</a:t>
            </a:r>
          </a:p>
          <a:p>
            <a:r>
              <a:rPr lang="en-US" sz="1300" b="0">
                <a:solidFill>
                  <a:srgbClr val="DDDDDD"/>
                </a:solidFill>
                <a:latin typeface="Calibri"/>
                <a:ea typeface="Calibri"/>
              </a:rPr>
              <a:t>  system</a:t>
            </a:r>
          </a:p>
          <a:p>
            <a:endParaRPr lang="en-US" sz="1300" b="0">
              <a:solidFill>
                <a:srgbClr val="DDDDDD"/>
              </a:solidFill>
              <a:latin typeface="Calibri"/>
              <a:ea typeface="Calibri"/>
            </a:endParaRPr>
          </a:p>
          <a:p>
            <a:r>
              <a:rPr lang="en-US" sz="1300" b="0">
                <a:solidFill>
                  <a:srgbClr val="DDDDDD"/>
                </a:solidFill>
                <a:latin typeface="Calibri"/>
                <a:ea typeface="Calibri"/>
              </a:rPr>
              <a:t>  Target: 60% reduction</a:t>
            </a:r>
          </a:p>
          <a:p>
            <a:r>
              <a:rPr lang="en-US" sz="1300" b="0">
                <a:solidFill>
                  <a:srgbClr val="DDDDDD"/>
                </a:solidFill>
                <a:latin typeface="Calibri"/>
                <a:ea typeface="Calibri"/>
              </a:rPr>
              <a:t>  in false positives</a:t>
            </a:r>
          </a:p>
          <a:p>
            <a:r>
              <a:rPr lang="en-US" sz="1300" b="0">
                <a:solidFill>
                  <a:srgbClr val="DDDDDD"/>
                </a:solidFill>
                <a:latin typeface="Calibri"/>
                <a:ea typeface="Calibri"/>
              </a:rPr>
              <a:t>  vs rules-only</a:t>
            </a:r>
          </a:p>
        </p:txBody>
      </p:sp>
      <p:sp>
        <p:nvSpPr>
          <p:cNvPr id="100083" name="Ph3"/>
          <p:cNvSpPr txBox="1"/>
          <p:nvPr/>
        </p:nvSpPr>
        <p:spPr>
          <a:xfrm>
            <a:off x="6480000" y="1872000"/>
            <a:ext cx="2700000" cy="3960000"/>
          </a:xfrm>
          <a:prstGeom prst="rect">
            <a:avLst/>
          </a:prstGeom>
          <a:solidFill>
            <a:srgbClr val="001A0E"/>
          </a:solidFill>
        </p:spPr>
        <p:txBody>
          <a:bodyPr/>
          <a:lstStyle/>
          <a:p>
            <a:r>
              <a:rPr lang="en-US" sz="1300" b="0">
                <a:solidFill>
                  <a:srgbClr val="DDDDDD"/>
                </a:solidFill>
                <a:latin typeface="Calibri"/>
                <a:ea typeface="Calibri"/>
              </a:rPr>
              <a:t>PHASE 3  (6-12 months)</a:t>
            </a:r>
          </a:p>
          <a:p>
            <a:r>
              <a:rPr lang="en-US" sz="1300" b="0">
                <a:solidFill>
                  <a:srgbClr val="DDDDDD"/>
                </a:solidFill>
                <a:latin typeface="Calibri"/>
                <a:ea typeface="Calibri"/>
              </a:rPr>
              <a:t>Device + Behaviour</a:t>
            </a:r>
          </a:p>
          <a:p>
            <a:endParaRPr lang="en-US" sz="1300" b="0">
              <a:solidFill>
                <a:srgbClr val="DDDDDD"/>
              </a:solidFill>
              <a:latin typeface="Calibri"/>
              <a:ea typeface="Calibri"/>
            </a:endParaRPr>
          </a:p>
          <a:p>
            <a:r>
              <a:rPr lang="en-US" sz="1300" b="0">
                <a:solidFill>
                  <a:srgbClr val="DDDDDD"/>
                </a:solidFill>
                <a:latin typeface="Calibri"/>
                <a:ea typeface="Calibri"/>
              </a:rPr>
              <a:t>  Integrate device</a:t>
            </a:r>
          </a:p>
          <a:p>
            <a:r>
              <a:rPr lang="en-US" sz="1300" b="0">
                <a:solidFill>
                  <a:srgbClr val="DDDDDD"/>
                </a:solidFill>
                <a:latin typeface="Calibri"/>
                <a:ea typeface="Calibri"/>
              </a:rPr>
              <a:t>  fingerprinting</a:t>
            </a:r>
          </a:p>
          <a:p>
            <a:endParaRPr lang="en-US" sz="1300" b="0">
              <a:solidFill>
                <a:srgbClr val="DDDDDD"/>
              </a:solidFill>
              <a:latin typeface="Calibri"/>
              <a:ea typeface="Calibri"/>
            </a:endParaRPr>
          </a:p>
          <a:p>
            <a:r>
              <a:rPr lang="en-US" sz="1300" b="0">
                <a:solidFill>
                  <a:srgbClr val="DDDDDD"/>
                </a:solidFill>
                <a:latin typeface="Calibri"/>
                <a:ea typeface="Calibri"/>
              </a:rPr>
              <a:t>  Build session</a:t>
            </a:r>
          </a:p>
          <a:p>
            <a:r>
              <a:rPr lang="en-US" sz="1300" b="0">
                <a:solidFill>
                  <a:srgbClr val="DDDDDD"/>
                </a:solidFill>
                <a:latin typeface="Calibri"/>
                <a:ea typeface="Calibri"/>
              </a:rPr>
              <a:t>  sequence similarity</a:t>
            </a:r>
          </a:p>
          <a:p>
            <a:r>
              <a:rPr lang="en-US" sz="1300" b="0">
                <a:solidFill>
                  <a:srgbClr val="DDDDDD"/>
                </a:solidFill>
                <a:latin typeface="Calibri"/>
                <a:ea typeface="Calibri"/>
              </a:rPr>
              <a:t>  engine</a:t>
            </a:r>
          </a:p>
          <a:p>
            <a:endParaRPr lang="en-US" sz="1300" b="0">
              <a:solidFill>
                <a:srgbClr val="DDDDDD"/>
              </a:solidFill>
              <a:latin typeface="Calibri"/>
              <a:ea typeface="Calibri"/>
            </a:endParaRPr>
          </a:p>
          <a:p>
            <a:r>
              <a:rPr lang="en-US" sz="1300" b="0">
                <a:solidFill>
                  <a:srgbClr val="DDDDDD"/>
                </a:solidFill>
                <a:latin typeface="Calibri"/>
                <a:ea typeface="Calibri"/>
              </a:rPr>
              <a:t>  Real-time stream</a:t>
            </a:r>
          </a:p>
          <a:p>
            <a:r>
              <a:rPr lang="en-US" sz="1300" b="0">
                <a:solidFill>
                  <a:srgbClr val="DDDDDD"/>
                </a:solidFill>
                <a:latin typeface="Calibri"/>
                <a:ea typeface="Calibri"/>
              </a:rPr>
              <a:t>  processing via Kafka</a:t>
            </a:r>
          </a:p>
          <a:p>
            <a:endParaRPr lang="en-US" sz="1300" b="0">
              <a:solidFill>
                <a:srgbClr val="DDDDDD"/>
              </a:solidFill>
              <a:latin typeface="Calibri"/>
              <a:ea typeface="Calibri"/>
            </a:endParaRPr>
          </a:p>
          <a:p>
            <a:r>
              <a:rPr lang="en-US" sz="1300" b="0">
                <a:solidFill>
                  <a:srgbClr val="DDDDDD"/>
                </a:solidFill>
                <a:latin typeface="Calibri"/>
                <a:ea typeface="Calibri"/>
              </a:rPr>
              <a:t>  Sub-second alert</a:t>
            </a:r>
          </a:p>
          <a:p>
            <a:r>
              <a:rPr lang="en-US" sz="1300" b="0">
                <a:solidFill>
                  <a:srgbClr val="DDDDDD"/>
                </a:solidFill>
                <a:latin typeface="Calibri"/>
                <a:ea typeface="Calibri"/>
              </a:rPr>
              <a:t>  generation on</a:t>
            </a:r>
          </a:p>
          <a:p>
            <a:r>
              <a:rPr lang="en-US" sz="1300" b="0">
                <a:solidFill>
                  <a:srgbClr val="DDDDDD"/>
                </a:solidFill>
                <a:latin typeface="Calibri"/>
                <a:ea typeface="Calibri"/>
              </a:rPr>
              <a:t>  live transactions</a:t>
            </a:r>
          </a:p>
        </p:txBody>
      </p:sp>
      <p:sp>
        <p:nvSpPr>
          <p:cNvPr id="100084" name="Ph4"/>
          <p:cNvSpPr txBox="1"/>
          <p:nvPr/>
        </p:nvSpPr>
        <p:spPr>
          <a:xfrm>
            <a:off x="9540000" y="1872000"/>
            <a:ext cx="2340000" cy="3960000"/>
          </a:xfrm>
          <a:prstGeom prst="rect">
            <a:avLst/>
          </a:prstGeom>
          <a:solidFill>
            <a:srgbClr val="001A0E"/>
          </a:solidFill>
        </p:spPr>
        <p:txBody>
          <a:bodyPr/>
          <a:lstStyle/>
          <a:p>
            <a:r>
              <a:rPr lang="en-US" sz="1300" b="0">
                <a:solidFill>
                  <a:srgbClr val="DDDDDD"/>
                </a:solidFill>
                <a:latin typeface="Calibri"/>
                <a:ea typeface="Calibri"/>
              </a:rPr>
              <a:t>PHASE 4  (12+ months)</a:t>
            </a:r>
          </a:p>
          <a:p>
            <a:r>
              <a:rPr lang="en-US" sz="1300" b="0">
                <a:solidFill>
                  <a:srgbClr val="DDDDDD"/>
                </a:solidFill>
                <a:latin typeface="Calibri"/>
                <a:ea typeface="Calibri"/>
              </a:rPr>
              <a:t>Intelligence Platform</a:t>
            </a:r>
          </a:p>
          <a:p>
            <a:endParaRPr lang="en-US" sz="1300" b="0">
              <a:solidFill>
                <a:srgbClr val="DDDDDD"/>
              </a:solidFill>
              <a:latin typeface="Calibri"/>
              <a:ea typeface="Calibri"/>
            </a:endParaRPr>
          </a:p>
          <a:p>
            <a:r>
              <a:rPr lang="en-US" sz="1300" b="0">
                <a:solidFill>
                  <a:srgbClr val="DDDDDD"/>
                </a:solidFill>
                <a:latin typeface="Calibri"/>
                <a:ea typeface="Calibri"/>
              </a:rPr>
              <a:t>  Graph Neural Net</a:t>
            </a:r>
          </a:p>
          <a:p>
            <a:r>
              <a:rPr lang="en-US" sz="1300" b="0">
                <a:solidFill>
                  <a:srgbClr val="DDDDDD"/>
                </a:solidFill>
                <a:latin typeface="Calibri"/>
                <a:ea typeface="Calibri"/>
              </a:rPr>
              <a:t>  models trained on</a:t>
            </a:r>
          </a:p>
          <a:p>
            <a:r>
              <a:rPr lang="en-US" sz="1300" b="0">
                <a:solidFill>
                  <a:srgbClr val="DDDDDD"/>
                </a:solidFill>
                <a:latin typeface="Calibri"/>
                <a:ea typeface="Calibri"/>
              </a:rPr>
              <a:t>  labelled fraud rings</a:t>
            </a:r>
          </a:p>
          <a:p>
            <a:endParaRPr lang="en-US" sz="1300" b="0">
              <a:solidFill>
                <a:srgbClr val="DDDDDD"/>
              </a:solidFill>
              <a:latin typeface="Calibri"/>
              <a:ea typeface="Calibri"/>
            </a:endParaRPr>
          </a:p>
          <a:p>
            <a:r>
              <a:rPr lang="en-US" sz="1300" b="0">
                <a:solidFill>
                  <a:srgbClr val="DDDDDD"/>
                </a:solidFill>
                <a:latin typeface="Calibri"/>
                <a:ea typeface="Calibri"/>
              </a:rPr>
              <a:t>  Regulator reporting</a:t>
            </a:r>
          </a:p>
          <a:p>
            <a:r>
              <a:rPr lang="en-US" sz="1300" b="0">
                <a:solidFill>
                  <a:srgbClr val="DDDDDD"/>
                </a:solidFill>
                <a:latin typeface="Calibri"/>
                <a:ea typeface="Calibri"/>
              </a:rPr>
              <a:t>  auto-generated from</a:t>
            </a:r>
          </a:p>
          <a:p>
            <a:r>
              <a:rPr lang="en-US" sz="1300" b="0">
                <a:solidFill>
                  <a:srgbClr val="DDDDDD"/>
                </a:solidFill>
                <a:latin typeface="Calibri"/>
                <a:ea typeface="Calibri"/>
              </a:rPr>
              <a:t>  graph traversal</a:t>
            </a:r>
          </a:p>
          <a:p>
            <a:endParaRPr lang="en-US" sz="1300" b="0">
              <a:solidFill>
                <a:srgbClr val="DDDDDD"/>
              </a:solidFill>
              <a:latin typeface="Calibri"/>
              <a:ea typeface="Calibri"/>
            </a:endParaRPr>
          </a:p>
          <a:p>
            <a:r>
              <a:rPr lang="en-US" sz="1300" b="0">
                <a:solidFill>
                  <a:srgbClr val="DDDDDD"/>
                </a:solidFill>
                <a:latin typeface="Calibri"/>
                <a:ea typeface="Calibri"/>
              </a:rPr>
              <a:t>  Cross-bank shared</a:t>
            </a:r>
          </a:p>
          <a:p>
            <a:r>
              <a:rPr lang="en-US" sz="1300" b="0">
                <a:solidFill>
                  <a:srgbClr val="DDDDDD"/>
                </a:solidFill>
                <a:latin typeface="Calibri"/>
                <a:ea typeface="Calibri"/>
              </a:rPr>
              <a:t>  graph (consortium)</a:t>
            </a:r>
          </a:p>
          <a:p>
            <a:r>
              <a:rPr lang="en-US" sz="1300" b="0">
                <a:solidFill>
                  <a:srgbClr val="DDDDDD"/>
                </a:solidFill>
                <a:latin typeface="Calibri"/>
                <a:ea typeface="Calibri"/>
              </a:rPr>
              <a:t>  via privacy-preserving</a:t>
            </a:r>
          </a:p>
          <a:p>
            <a:r>
              <a:rPr lang="en-US" sz="1300" b="0">
                <a:solidFill>
                  <a:srgbClr val="DDDDDD"/>
                </a:solidFill>
                <a:latin typeface="Calibri"/>
                <a:ea typeface="Calibri"/>
              </a:rPr>
              <a:t>  federated approach</a:t>
            </a:r>
          </a:p>
        </p:txBody>
      </p:sp>
      <p:sp>
        <p:nvSpPr>
          <p:cNvPr id="100085" name="ROI"/>
          <p:cNvSpPr txBox="1"/>
          <p:nvPr/>
        </p:nvSpPr>
        <p:spPr>
          <a:xfrm>
            <a:off x="360000" y="6120000"/>
            <a:ext cx="11160000" cy="720000"/>
          </a:xfrm>
          <a:prstGeom prst="rect">
            <a:avLst/>
          </a:prstGeom>
          <a:solidFill>
            <a:srgbClr val="001A0E"/>
          </a:solidFill>
        </p:spPr>
        <p:txBody>
          <a:bodyPr/>
          <a:lstStyle/>
          <a:p>
            <a:r>
              <a:rPr lang="en-US" sz="1500" b="1">
                <a:solidFill>
                  <a:srgbClr val="00CC88"/>
                </a:solidFill>
                <a:latin typeface="Calibri"/>
                <a:ea typeface="Calibri"/>
              </a:rPr>
              <a:t>Expected ROI at Phase 2 completion: 3-5x more fraud ring detection  |  60% fewer false positives  |  Investigation time: hours -&gt; minutes  |  Compliance cost reduction: 40%+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086" name="TopAccent"/>
          <p:cNvSpPr txBox="1"/>
          <p:nvPr/>
        </p:nvSpPr>
        <p:spPr>
          <a:xfrm>
            <a:off x="0" y="0"/>
            <a:ext cx="12193200" cy="180000"/>
          </a:xfrm>
          <a:prstGeom prst="rect">
            <a:avLst/>
          </a:prstGeom>
          <a:solidFill>
            <a:srgbClr val="FF9500"/>
          </a:solidFill>
        </p:spPr>
        <p:txBody>
          <a:bodyPr/>
          <a:lstStyle/>
          <a:p>
            <a:endParaRPr lang="en-US" sz="1000">
              <a:solidFill>
                <a:srgbClr val="FF9500"/>
              </a:solidFill>
            </a:endParaRPr>
          </a:p>
        </p:txBody>
      </p:sp>
      <p:sp>
        <p:nvSpPr>
          <p:cNvPr id="100087" name="SlideNum"/>
          <p:cNvSpPr txBox="1"/>
          <p:nvPr/>
        </p:nvSpPr>
        <p:spPr>
          <a:xfrm>
            <a:off x="540000" y="288000"/>
            <a:ext cx="9000000" cy="288000"/>
          </a:xfrm>
          <a:prstGeom prst="rect">
            <a:avLst/>
          </a:prstGeom>
        </p:spPr>
        <p:txBody>
          <a:bodyPr/>
          <a:lstStyle/>
          <a:p>
            <a:r>
              <a:rPr lang="en-US" sz="1200" b="1">
                <a:solidFill>
                  <a:srgbClr val="FF9500"/>
                </a:solidFill>
                <a:latin typeface="Calibri"/>
                <a:ea typeface="Calibri"/>
              </a:rPr>
              <a:t>11  CHALLENGES &amp; MITIGATIONS</a:t>
            </a:r>
          </a:p>
        </p:txBody>
      </p:sp>
      <p:sp>
        <p:nvSpPr>
          <p:cNvPr id="100088" name="Title"/>
          <p:cNvSpPr txBox="1"/>
          <p:nvPr/>
        </p:nvSpPr>
        <p:spPr>
          <a:xfrm>
            <a:off x="540000" y="648000"/>
            <a:ext cx="10800000" cy="1008000"/>
          </a:xfrm>
          <a:prstGeom prst="rect">
            <a:avLst/>
          </a:prstGeom>
        </p:spPr>
        <p:txBody>
          <a:bodyPr/>
          <a:lstStyle/>
          <a:p>
            <a:r>
              <a:rPr lang="en-US" sz="3400" b="1">
                <a:solidFill>
                  <a:srgbClr val="FFFFFF"/>
                </a:solidFill>
                <a:latin typeface="Calibri"/>
                <a:ea typeface="Calibri"/>
              </a:rPr>
              <a:t>Challenges in Production</a:t>
            </a:r>
          </a:p>
          <a:p>
            <a:r>
              <a:rPr lang="en-US" sz="3400" b="1">
                <a:solidFill>
                  <a:srgbClr val="FFFFFF"/>
                </a:solidFill>
                <a:latin typeface="Calibri"/>
                <a:ea typeface="Calibri"/>
              </a:rPr>
              <a:t>Graph Fraud Detection</a:t>
            </a:r>
          </a:p>
        </p:txBody>
      </p:sp>
      <p:sp>
        <p:nvSpPr>
          <p:cNvPr id="100089" name="CH"/>
          <p:cNvSpPr txBox="1"/>
          <p:nvPr/>
        </p:nvSpPr>
        <p:spPr>
          <a:xfrm>
            <a:off x="540000" y="1800000"/>
            <a:ext cx="5040000" cy="288000"/>
          </a:xfrm>
          <a:prstGeom prst="rect">
            <a:avLst/>
          </a:prstGeom>
        </p:spPr>
        <p:txBody>
          <a:bodyPr/>
          <a:lstStyle/>
          <a:p>
            <a:r>
              <a:rPr lang="en-US" sz="1400" b="1">
                <a:solidFill>
                  <a:srgbClr val="FF4444"/>
                </a:solidFill>
                <a:latin typeface="Calibri"/>
                <a:ea typeface="Calibri"/>
              </a:rPr>
              <a:t>CHALLENGE</a:t>
            </a:r>
          </a:p>
        </p:txBody>
      </p:sp>
      <p:sp>
        <p:nvSpPr>
          <p:cNvPr id="100090" name="MIT"/>
          <p:cNvSpPr txBox="1"/>
          <p:nvPr/>
        </p:nvSpPr>
        <p:spPr>
          <a:xfrm>
            <a:off x="6120000" y="1800000"/>
            <a:ext cx="5400000" cy="288000"/>
          </a:xfrm>
          <a:prstGeom prst="rect">
            <a:avLst/>
          </a:prstGeom>
        </p:spPr>
        <p:txBody>
          <a:bodyPr/>
          <a:lstStyle/>
          <a:p>
            <a:r>
              <a:rPr lang="en-US" sz="1400" b="1">
                <a:solidFill>
                  <a:srgbClr val="00CC88"/>
                </a:solidFill>
                <a:latin typeface="Calibri"/>
                <a:ea typeface="Calibri"/>
              </a:rPr>
              <a:t>MITIGATION</a:t>
            </a:r>
          </a:p>
        </p:txBody>
      </p:sp>
      <p:sp>
        <p:nvSpPr>
          <p:cNvPr id="100091" name="C1"/>
          <p:cNvSpPr txBox="1"/>
          <p:nvPr/>
        </p:nvSpPr>
        <p:spPr>
          <a:xfrm>
            <a:off x="540000" y="2160000"/>
            <a:ext cx="5040000" cy="720000"/>
          </a:xfrm>
          <a:prstGeom prst="rect">
            <a:avLst/>
          </a:prstGeom>
          <a:solidFill>
            <a:srgbClr val="0A0A1A"/>
          </a:solidFill>
        </p:spPr>
        <p:txBody>
          <a:bodyPr/>
          <a:lstStyle/>
          <a:p>
            <a:r>
              <a:rPr lang="en-US" sz="1400" b="0">
                <a:solidFill>
                  <a:srgbClr val="DDDDDD"/>
                </a:solidFill>
                <a:latin typeface="Calibri"/>
                <a:ea typeface="Calibri"/>
              </a:rPr>
              <a:t>Scale: Billions of edges</a:t>
            </a:r>
          </a:p>
          <a:p>
            <a:r>
              <a:rPr lang="en-US" sz="1400" b="0">
                <a:solidFill>
                  <a:srgbClr val="DDDDDD"/>
                </a:solidFill>
                <a:latin typeface="Calibri"/>
                <a:ea typeface="Calibri"/>
              </a:rPr>
              <a:t>Standard graph DBs slow</a:t>
            </a:r>
          </a:p>
          <a:p>
            <a:r>
              <a:rPr lang="en-US" sz="1400" b="0">
                <a:solidFill>
                  <a:srgbClr val="DDDDDD"/>
                </a:solidFill>
                <a:latin typeface="Calibri"/>
                <a:ea typeface="Calibri"/>
              </a:rPr>
              <a:t>down at &gt;10B edges</a:t>
            </a:r>
          </a:p>
        </p:txBody>
      </p:sp>
      <p:sp>
        <p:nvSpPr>
          <p:cNvPr id="100092" name="M1"/>
          <p:cNvSpPr txBox="1"/>
          <p:nvPr/>
        </p:nvSpPr>
        <p:spPr>
          <a:xfrm>
            <a:off x="6120000" y="2160000"/>
            <a:ext cx="5400000" cy="720000"/>
          </a:xfrm>
          <a:prstGeom prst="rect">
            <a:avLst/>
          </a:prstGeom>
          <a:solidFill>
            <a:srgbClr val="0A0A1A"/>
          </a:solidFill>
        </p:spPr>
        <p:txBody>
          <a:bodyPr/>
          <a:lstStyle/>
          <a:p>
            <a:r>
              <a:rPr lang="en-US" sz="1400" b="0">
                <a:solidFill>
                  <a:srgbClr val="DDDDDD"/>
                </a:solidFill>
                <a:latin typeface="Calibri"/>
                <a:ea typeface="Calibri"/>
              </a:rPr>
              <a:t>Graph partitioning + distributed compute (Apache Spark GraphX / TigerGraph for HTAP)</a:t>
            </a:r>
          </a:p>
        </p:txBody>
      </p:sp>
      <p:sp>
        <p:nvSpPr>
          <p:cNvPr id="100093" name="C2"/>
          <p:cNvSpPr txBox="1"/>
          <p:nvPr/>
        </p:nvSpPr>
        <p:spPr>
          <a:xfrm>
            <a:off x="540000" y="3060000"/>
            <a:ext cx="5040000" cy="720000"/>
          </a:xfrm>
          <a:prstGeom prst="rect">
            <a:avLst/>
          </a:prstGeom>
          <a:solidFill>
            <a:srgbClr val="0A0A1A"/>
          </a:solidFill>
        </p:spPr>
        <p:txBody>
          <a:bodyPr/>
          <a:lstStyle/>
          <a:p>
            <a:r>
              <a:rPr lang="en-US" sz="1400" b="0">
                <a:solidFill>
                  <a:srgbClr val="DDDDDD"/>
                </a:solidFill>
                <a:latin typeface="Calibri"/>
                <a:ea typeface="Calibri"/>
              </a:rPr>
              <a:t>False edges: Shared WiFi,</a:t>
            </a:r>
          </a:p>
          <a:p>
            <a:r>
              <a:rPr lang="en-US" sz="1400" b="0">
                <a:solidFill>
                  <a:srgbClr val="DDDDDD"/>
                </a:solidFill>
                <a:latin typeface="Calibri"/>
                <a:ea typeface="Calibri"/>
              </a:rPr>
              <a:t>family members sharing</a:t>
            </a:r>
          </a:p>
          <a:p>
            <a:r>
              <a:rPr lang="en-US" sz="1400" b="0">
                <a:solidFill>
                  <a:srgbClr val="DDDDDD"/>
                </a:solidFill>
                <a:latin typeface="Calibri"/>
                <a:ea typeface="Calibri"/>
              </a:rPr>
              <a:t>devices legitimately</a:t>
            </a:r>
          </a:p>
        </p:txBody>
      </p:sp>
      <p:sp>
        <p:nvSpPr>
          <p:cNvPr id="100094" name="M2"/>
          <p:cNvSpPr txBox="1"/>
          <p:nvPr/>
        </p:nvSpPr>
        <p:spPr>
          <a:xfrm>
            <a:off x="6120000" y="3060000"/>
            <a:ext cx="5400000" cy="720000"/>
          </a:xfrm>
          <a:prstGeom prst="rect">
            <a:avLst/>
          </a:prstGeom>
          <a:solidFill>
            <a:srgbClr val="0A0A1A"/>
          </a:solidFill>
        </p:spPr>
        <p:txBody>
          <a:bodyPr/>
          <a:lstStyle/>
          <a:p>
            <a:r>
              <a:rPr lang="en-US" sz="1400" b="0">
                <a:solidFill>
                  <a:srgbClr val="DDDDDD"/>
                </a:solidFill>
                <a:latin typeface="Calibri"/>
                <a:ea typeface="Calibri"/>
              </a:rPr>
              <a:t>Edge weight thresholds + temporal analysis — occasional sharing vs systematic co-use</a:t>
            </a:r>
          </a:p>
        </p:txBody>
      </p:sp>
      <p:sp>
        <p:nvSpPr>
          <p:cNvPr id="100095" name="C3"/>
          <p:cNvSpPr txBox="1"/>
          <p:nvPr/>
        </p:nvSpPr>
        <p:spPr>
          <a:xfrm>
            <a:off x="540000" y="3960000"/>
            <a:ext cx="5040000" cy="720000"/>
          </a:xfrm>
          <a:prstGeom prst="rect">
            <a:avLst/>
          </a:prstGeom>
          <a:solidFill>
            <a:srgbClr val="0A0A1A"/>
          </a:solidFill>
        </p:spPr>
        <p:txBody>
          <a:bodyPr/>
          <a:lstStyle/>
          <a:p>
            <a:r>
              <a:rPr lang="en-US" sz="1400" b="0">
                <a:solidFill>
                  <a:srgbClr val="DDDDDD"/>
                </a:solidFill>
                <a:latin typeface="Calibri"/>
                <a:ea typeface="Calibri"/>
              </a:rPr>
              <a:t>Privacy / DPDP Act 2023:</a:t>
            </a:r>
          </a:p>
          <a:p>
            <a:r>
              <a:rPr lang="en-US" sz="1400" b="0">
                <a:solidFill>
                  <a:srgbClr val="DDDDDD"/>
                </a:solidFill>
                <a:latin typeface="Calibri"/>
                <a:ea typeface="Calibri"/>
              </a:rPr>
              <a:t>Cross-customer graph</a:t>
            </a:r>
          </a:p>
          <a:p>
            <a:r>
              <a:rPr lang="en-US" sz="1400" b="0">
                <a:solidFill>
                  <a:srgbClr val="DDDDDD"/>
                </a:solidFill>
                <a:latin typeface="Calibri"/>
                <a:ea typeface="Calibri"/>
              </a:rPr>
              <a:t>raises data sharing concerns</a:t>
            </a:r>
          </a:p>
        </p:txBody>
      </p:sp>
      <p:sp>
        <p:nvSpPr>
          <p:cNvPr id="100096" name="M3"/>
          <p:cNvSpPr txBox="1"/>
          <p:nvPr/>
        </p:nvSpPr>
        <p:spPr>
          <a:xfrm>
            <a:off x="6120000" y="3960000"/>
            <a:ext cx="5400000" cy="720000"/>
          </a:xfrm>
          <a:prstGeom prst="rect">
            <a:avLst/>
          </a:prstGeom>
          <a:solidFill>
            <a:srgbClr val="0A0A1A"/>
          </a:solidFill>
        </p:spPr>
        <p:txBody>
          <a:bodyPr/>
          <a:lstStyle/>
          <a:p>
            <a:r>
              <a:rPr lang="en-US" sz="1400" b="0">
                <a:solidFill>
                  <a:srgbClr val="DDDDDD"/>
                </a:solidFill>
                <a:latin typeface="Calibri"/>
                <a:ea typeface="Calibri"/>
              </a:rPr>
              <a:t>Store graph topology only (hashed IDs). PII kept separate. Graph traversal on anonymised node IDs + RBI Safe Harbour provisions</a:t>
            </a:r>
          </a:p>
        </p:txBody>
      </p:sp>
      <p:sp>
        <p:nvSpPr>
          <p:cNvPr id="100097" name="C4"/>
          <p:cNvSpPr txBox="1"/>
          <p:nvPr/>
        </p:nvSpPr>
        <p:spPr>
          <a:xfrm>
            <a:off x="540000" y="4860000"/>
            <a:ext cx="5040000" cy="720000"/>
          </a:xfrm>
          <a:prstGeom prst="rect">
            <a:avLst/>
          </a:prstGeom>
          <a:solidFill>
            <a:srgbClr val="0A0A1A"/>
          </a:solidFill>
        </p:spPr>
        <p:txBody>
          <a:bodyPr/>
          <a:lstStyle/>
          <a:p>
            <a:r>
              <a:rPr lang="en-US" sz="1400" b="0">
                <a:solidFill>
                  <a:srgbClr val="DDDDDD"/>
                </a:solidFill>
                <a:latin typeface="Calibri"/>
                <a:ea typeface="Calibri"/>
              </a:rPr>
              <a:t>Adversarial adaptation:</a:t>
            </a:r>
          </a:p>
          <a:p>
            <a:r>
              <a:rPr lang="en-US" sz="1400" b="0">
                <a:solidFill>
                  <a:srgbClr val="DDDDDD"/>
                </a:solidFill>
                <a:latin typeface="Calibri"/>
                <a:ea typeface="Calibri"/>
              </a:rPr>
              <a:t>Fraudsters learn to avoid</a:t>
            </a:r>
          </a:p>
          <a:p>
            <a:r>
              <a:rPr lang="en-US" sz="1400" b="0">
                <a:solidFill>
                  <a:srgbClr val="DDDDDD"/>
                </a:solidFill>
                <a:latin typeface="Calibri"/>
                <a:ea typeface="Calibri"/>
              </a:rPr>
              <a:t>known graph signatures</a:t>
            </a:r>
          </a:p>
        </p:txBody>
      </p:sp>
      <p:sp>
        <p:nvSpPr>
          <p:cNvPr id="100098" name="M4"/>
          <p:cNvSpPr txBox="1"/>
          <p:nvPr/>
        </p:nvSpPr>
        <p:spPr>
          <a:xfrm>
            <a:off x="6120000" y="4860000"/>
            <a:ext cx="5400000" cy="720000"/>
          </a:xfrm>
          <a:prstGeom prst="rect">
            <a:avLst/>
          </a:prstGeom>
          <a:solidFill>
            <a:srgbClr val="0A0A1A"/>
          </a:solidFill>
        </p:spPr>
        <p:txBody>
          <a:bodyPr/>
          <a:lstStyle/>
          <a:p>
            <a:r>
              <a:rPr lang="en-US" sz="1400" b="0">
                <a:solidFill>
                  <a:srgbClr val="DDDDDD"/>
                </a:solidFill>
                <a:latin typeface="Calibri"/>
                <a:ea typeface="Calibri"/>
              </a:rPr>
              <a:t>GNN models continuously retrained on new confirmed fraud. Graph topology is harder to fake than transaction amounts</a:t>
            </a:r>
          </a:p>
        </p:txBody>
      </p:sp>
      <p:sp>
        <p:nvSpPr>
          <p:cNvPr id="100099" name="C5"/>
          <p:cNvSpPr txBox="1"/>
          <p:nvPr/>
        </p:nvSpPr>
        <p:spPr>
          <a:xfrm>
            <a:off x="540000" y="5760000"/>
            <a:ext cx="5040000" cy="720000"/>
          </a:xfrm>
          <a:prstGeom prst="rect">
            <a:avLst/>
          </a:prstGeom>
          <a:solidFill>
            <a:srgbClr val="0A0A1A"/>
          </a:solidFill>
        </p:spPr>
        <p:txBody>
          <a:bodyPr/>
          <a:lstStyle/>
          <a:p>
            <a:r>
              <a:rPr lang="en-US" sz="1400" b="0">
                <a:solidFill>
                  <a:srgbClr val="DDDDDD"/>
                </a:solidFill>
                <a:latin typeface="Calibri"/>
                <a:ea typeface="Calibri"/>
              </a:rPr>
              <a:t>Explainability: Regulators</a:t>
            </a:r>
          </a:p>
          <a:p>
            <a:r>
              <a:rPr lang="en-US" sz="1400" b="0">
                <a:solidFill>
                  <a:srgbClr val="DDDDDD"/>
                </a:solidFill>
                <a:latin typeface="Calibri"/>
                <a:ea typeface="Calibri"/>
              </a:rPr>
              <a:t>demand reason codes not</a:t>
            </a:r>
          </a:p>
          <a:p>
            <a:r>
              <a:rPr lang="en-US" sz="1400" b="0">
                <a:solidFill>
                  <a:srgbClr val="DDDDDD"/>
                </a:solidFill>
                <a:latin typeface="Calibri"/>
                <a:ea typeface="Calibri"/>
              </a:rPr>
              <a:t>just graph risk scores</a:t>
            </a:r>
          </a:p>
        </p:txBody>
      </p:sp>
      <p:sp>
        <p:nvSpPr>
          <p:cNvPr id="100100" name="M5"/>
          <p:cNvSpPr txBox="1"/>
          <p:nvPr/>
        </p:nvSpPr>
        <p:spPr>
          <a:xfrm>
            <a:off x="6120000" y="5760000"/>
            <a:ext cx="5400000" cy="720000"/>
          </a:xfrm>
          <a:prstGeom prst="rect">
            <a:avLst/>
          </a:prstGeom>
          <a:solidFill>
            <a:srgbClr val="0A0A1A"/>
          </a:solidFill>
        </p:spPr>
        <p:txBody>
          <a:bodyPr/>
          <a:lstStyle/>
          <a:p>
            <a:r>
              <a:rPr lang="en-US" sz="1400" b="0">
                <a:solidFill>
                  <a:srgbClr val="DDDDDD"/>
                </a:solidFill>
                <a:latin typeface="Calibri"/>
                <a:ea typeface="Calibri"/>
              </a:rPr>
              <a:t>Path-based explanations: 'Account X flagged because it shares device with 47 accounts including confirmed fraud Account Y via 2-hop path'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0D21"/>
        </a:solidFill>
        <a:effectLst/>
      </p:bgPr>
    </p:bg>
    <p:spTree>
      <p:nvGrpSpPr>
        <p:cNvPr id="1" name=""/>
        <p:cNvGrpSpPr/>
        <p:nvPr/>
      </p:nvGrpSpPr>
      <p:grpSpPr>
        <a:xfrm>
          <a:off x="0" y="0"/>
          <a:ext cx="0" cy="0"/>
          <a:chOff x="0" y="0"/>
          <a:chExt cx="0" cy="0"/>
        </a:xfrm>
      </p:grpSpPr>
      <p:sp>
        <p:nvSpPr>
          <p:cNvPr id="100101" name="AccentLeft"/>
          <p:cNvSpPr txBox="1"/>
          <p:nvPr/>
        </p:nvSpPr>
        <p:spPr>
          <a:xfrm>
            <a:off x="0" y="0"/>
            <a:ext cx="288000" cy="6858000"/>
          </a:xfrm>
          <a:prstGeom prst="rect">
            <a:avLst/>
          </a:prstGeom>
          <a:solidFill>
            <a:srgbClr val="1A6FFF"/>
          </a:solidFill>
        </p:spPr>
        <p:txBody>
          <a:bodyPr/>
          <a:lstStyle/>
          <a:p>
            <a:endParaRPr lang="en-US" sz="1000">
              <a:solidFill>
                <a:srgbClr val="1A6FFF"/>
              </a:solidFill>
            </a:endParaRPr>
          </a:p>
        </p:txBody>
      </p:sp>
      <p:sp>
        <p:nvSpPr>
          <p:cNvPr id="100102" name="Title"/>
          <p:cNvSpPr txBox="1"/>
          <p:nvPr/>
        </p:nvSpPr>
        <p:spPr>
          <a:xfrm>
            <a:off x="720000" y="720000"/>
            <a:ext cx="10440000" cy="1620000"/>
          </a:xfrm>
          <a:prstGeom prst="rect">
            <a:avLst/>
          </a:prstGeom>
        </p:spPr>
        <p:txBody>
          <a:bodyPr/>
          <a:lstStyle/>
          <a:p>
            <a:r>
              <a:rPr lang="en-US" sz="3800" b="1">
                <a:solidFill>
                  <a:srgbClr val="FFFFFF"/>
                </a:solidFill>
                <a:latin typeface="Calibri"/>
                <a:ea typeface="Calibri"/>
              </a:rPr>
              <a:t>Multi-Layer Graph Detection</a:t>
            </a:r>
          </a:p>
          <a:p>
            <a:r>
              <a:rPr lang="en-US" sz="3800" b="1">
                <a:solidFill>
                  <a:srgbClr val="FFFFFF"/>
                </a:solidFill>
                <a:latin typeface="Calibri"/>
                <a:ea typeface="Calibri"/>
              </a:rPr>
              <a:t>Changes the Game Permanently</a:t>
            </a:r>
          </a:p>
        </p:txBody>
      </p:sp>
      <p:sp>
        <p:nvSpPr>
          <p:cNvPr id="100103" name="Sum"/>
          <p:cNvSpPr txBox="1"/>
          <p:nvPr/>
        </p:nvSpPr>
        <p:spPr>
          <a:xfrm>
            <a:off x="720000" y="2520000"/>
            <a:ext cx="10440000" cy="1080000"/>
          </a:xfrm>
          <a:prstGeom prst="rect">
            <a:avLst/>
          </a:prstGeom>
        </p:spPr>
        <p:txBody>
          <a:bodyPr/>
          <a:lstStyle/>
          <a:p>
            <a:r>
              <a:rPr lang="en-US" sz="2000" b="0">
                <a:solidFill>
                  <a:srgbClr val="8BAFD4"/>
                </a:solidFill>
                <a:latin typeface="Calibri"/>
                <a:ea typeface="Calibri"/>
              </a:rPr>
              <a:t>The fraud graph sees what transaction monitoring cannot:</a:t>
            </a:r>
          </a:p>
          <a:p>
            <a:r>
              <a:rPr lang="en-US" sz="2000" b="0">
                <a:solidFill>
                  <a:srgbClr val="8BAFD4"/>
                </a:solidFill>
                <a:latin typeface="Calibri"/>
                <a:ea typeface="Calibri"/>
              </a:rPr>
              <a:t>not what happened — but who coordinated it, how they are connected,</a:t>
            </a:r>
          </a:p>
          <a:p>
            <a:r>
              <a:rPr lang="en-US" sz="2000" b="0">
                <a:solidFill>
                  <a:srgbClr val="8BAFD4"/>
                </a:solidFill>
                <a:latin typeface="Calibri"/>
                <a:ea typeface="Calibri"/>
              </a:rPr>
              <a:t>and where the money will go before it leaves the country.</a:t>
            </a:r>
          </a:p>
        </p:txBody>
      </p:sp>
      <p:sp>
        <p:nvSpPr>
          <p:cNvPr id="100104" name="K1"/>
          <p:cNvSpPr txBox="1"/>
          <p:nvPr/>
        </p:nvSpPr>
        <p:spPr>
          <a:xfrm>
            <a:off x="720000" y="3960000"/>
            <a:ext cx="2340000" cy="720000"/>
          </a:xfrm>
          <a:prstGeom prst="rect">
            <a:avLst/>
          </a:prstGeom>
          <a:solidFill>
            <a:srgbClr val="100020"/>
          </a:solidFill>
        </p:spPr>
        <p:txBody>
          <a:bodyPr/>
          <a:lstStyle/>
          <a:p>
            <a:r>
              <a:rPr lang="en-US" sz="1500" b="0">
                <a:solidFill>
                  <a:srgbClr val="CC44FF"/>
                </a:solidFill>
                <a:latin typeface="Calibri"/>
                <a:ea typeface="Calibri"/>
              </a:rPr>
              <a:t>Identity Graph</a:t>
            </a:r>
          </a:p>
          <a:p>
            <a:r>
              <a:rPr lang="en-US" sz="1500" b="0">
                <a:solidFill>
                  <a:srgbClr val="CC44FF"/>
                </a:solidFill>
                <a:latin typeface="Calibri"/>
                <a:ea typeface="Calibri"/>
              </a:rPr>
              <a:t>Synthetic rings</a:t>
            </a:r>
          </a:p>
        </p:txBody>
      </p:sp>
      <p:sp>
        <p:nvSpPr>
          <p:cNvPr id="100105" name="K2"/>
          <p:cNvSpPr txBox="1"/>
          <p:nvPr/>
        </p:nvSpPr>
        <p:spPr>
          <a:xfrm>
            <a:off x="3420000" y="3960000"/>
            <a:ext cx="2340000" cy="720000"/>
          </a:xfrm>
          <a:prstGeom prst="rect">
            <a:avLst/>
          </a:prstGeom>
          <a:solidFill>
            <a:srgbClr val="00091A"/>
          </a:solidFill>
        </p:spPr>
        <p:txBody>
          <a:bodyPr/>
          <a:lstStyle/>
          <a:p>
            <a:r>
              <a:rPr lang="en-US" sz="1500" b="0">
                <a:solidFill>
                  <a:srgbClr val="1A6FFF"/>
                </a:solidFill>
                <a:latin typeface="Calibri"/>
                <a:ea typeface="Calibri"/>
              </a:rPr>
              <a:t>Transaction Graph</a:t>
            </a:r>
          </a:p>
          <a:p>
            <a:r>
              <a:rPr lang="en-US" sz="1500" b="0">
                <a:solidFill>
                  <a:srgbClr val="1A6FFF"/>
                </a:solidFill>
                <a:latin typeface="Calibri"/>
                <a:ea typeface="Calibri"/>
              </a:rPr>
              <a:t>Layering &amp; cycles</a:t>
            </a:r>
          </a:p>
        </p:txBody>
      </p:sp>
      <p:sp>
        <p:nvSpPr>
          <p:cNvPr id="100106" name="K3"/>
          <p:cNvSpPr txBox="1"/>
          <p:nvPr/>
        </p:nvSpPr>
        <p:spPr>
          <a:xfrm>
            <a:off x="6120000" y="3960000"/>
            <a:ext cx="2340000" cy="720000"/>
          </a:xfrm>
          <a:prstGeom prst="rect">
            <a:avLst/>
          </a:prstGeom>
          <a:solidFill>
            <a:srgbClr val="001A0E"/>
          </a:solidFill>
        </p:spPr>
        <p:txBody>
          <a:bodyPr/>
          <a:lstStyle/>
          <a:p>
            <a:r>
              <a:rPr lang="en-US" sz="1500" b="0">
                <a:solidFill>
                  <a:srgbClr val="00CC88"/>
                </a:solidFill>
                <a:latin typeface="Calibri"/>
                <a:ea typeface="Calibri"/>
              </a:rPr>
              <a:t>Device Graph</a:t>
            </a:r>
          </a:p>
          <a:p>
            <a:r>
              <a:rPr lang="en-US" sz="1500" b="0">
                <a:solidFill>
                  <a:srgbClr val="00CC88"/>
                </a:solidFill>
                <a:latin typeface="Calibri"/>
                <a:ea typeface="Calibri"/>
              </a:rPr>
              <a:t>Mule farms &amp; bots</a:t>
            </a:r>
          </a:p>
        </p:txBody>
      </p:sp>
      <p:sp>
        <p:nvSpPr>
          <p:cNvPr id="100107" name="K4"/>
          <p:cNvSpPr txBox="1"/>
          <p:nvPr/>
        </p:nvSpPr>
        <p:spPr>
          <a:xfrm>
            <a:off x="8820000" y="3960000"/>
            <a:ext cx="2520000" cy="720000"/>
          </a:xfrm>
          <a:prstGeom prst="rect">
            <a:avLst/>
          </a:prstGeom>
          <a:solidFill>
            <a:srgbClr val="1A0A00"/>
          </a:solidFill>
        </p:spPr>
        <p:txBody>
          <a:bodyPr/>
          <a:lstStyle/>
          <a:p>
            <a:r>
              <a:rPr lang="en-US" sz="1500" b="0">
                <a:solidFill>
                  <a:srgbClr val="FF9500"/>
                </a:solidFill>
                <a:latin typeface="Calibri"/>
                <a:ea typeface="Calibri"/>
              </a:rPr>
              <a:t>Fusion Model</a:t>
            </a:r>
          </a:p>
          <a:p>
            <a:r>
              <a:rPr lang="en-US" sz="1500" b="0">
                <a:solidFill>
                  <a:srgbClr val="FF9500"/>
                </a:solidFill>
                <a:latin typeface="Calibri"/>
                <a:ea typeface="Calibri"/>
              </a:rPr>
              <a:t>Complete fraud ring</a:t>
            </a:r>
          </a:p>
        </p:txBody>
      </p:sp>
      <p:sp>
        <p:nvSpPr>
          <p:cNvPr id="100108" name="Final"/>
          <p:cNvSpPr txBox="1"/>
          <p:nvPr/>
        </p:nvSpPr>
        <p:spPr>
          <a:xfrm>
            <a:off x="720000" y="5220000"/>
            <a:ext cx="10440000" cy="540000"/>
          </a:xfrm>
          <a:prstGeom prst="rect">
            <a:avLst/>
          </a:prstGeom>
        </p:spPr>
        <p:txBody>
          <a:bodyPr/>
          <a:lstStyle/>
          <a:p>
            <a:r>
              <a:rPr lang="en-US" sz="1800" b="1">
                <a:solidFill>
                  <a:srgbClr val="1A6FFF"/>
                </a:solidFill>
                <a:latin typeface="Calibri"/>
                <a:ea typeface="Calibri"/>
              </a:rPr>
              <a:t>From signal to full fraud ring map in under 5 minutes  |  Prevents fraud before exit, not after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2670</Words>
  <Application>Microsoft Office PowerPoint</Application>
  <PresentationFormat>Widescreen</PresentationFormat>
  <Paragraphs>452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yash tiwari</cp:lastModifiedBy>
  <cp:revision>1</cp:revision>
  <dcterms:created xsi:type="dcterms:W3CDTF">2026-09-28T07:46:53Z</dcterms:created>
  <dcterms:modified xsi:type="dcterms:W3CDTF">2026-09-28T09:42:01Z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1.0.152</vt:lpwstr>
  </property>
  <property fmtid="{D5CDD505-2E9C-101B-9397-08002B2CF9AE}" pid="3" name="OfficeCLI.LastModified">
    <vt:lpwstr>2026-09-28T07:56:01Z</vt:lpwstr>
  </property>
</Properties>
</file>